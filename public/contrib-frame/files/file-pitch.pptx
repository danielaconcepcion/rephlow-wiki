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tch (3 min)" id="{c5a654be-e4ea-ca78-779f-4d3da96df9b7}">
          <p14:sldIdLst>
            <p14:sldId id="256"/>
            <p14:sldId id="257"/>
            <p14:sldId id="258"/>
            <p14:sldId id="259"/>
            <p14:sldId id="260"/>
            <p14:sldId id="261"/>
            <p14:sldId id="262"/>
            <p14:sldId id="263"/>
            <p14:sldId id="264"/>
            <p14:sldId id="265"/>
            <p14:sldId id="266"/>
            <p14:sldId id="267"/>
          </p14:sldIdLst>
        </p14:section>
        <p14:section name="Annex (Q&amp;A only)" id="{4f595b25-b16d-a4b6-a615-d4065bb69ce2}">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(15 s). Open with the problem and its scale through one concrete number, image or question. Avoid starting with the team's name or the technique. Surprise in the first 10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&amp; WHO SUFFERS IT (20 s). Name a specific type of person or organisation and what the problem costs them, rather than a whole sector. This is your most desperate customer: the one hit hardest and most often.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(15 s). Point to what has changed recently: a new regulation, rising costs, a new technology or a shift in demand. Keep only the one or two that are strongest for your project and delete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(20 s). Describe what changes for the customer (time, cost, risk, impact) before explaining how it works. Benefits first; the science comes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IT WORKS (20 s). One diagram a non-scientist can follow in a few seconds. One idea per visual, no jargon, no pathway details. Replace the grey box with your diagram and keep the three steps as captions.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 VALIDATION (20 s). Two or three key numbers at most, ideally combining lab results with feedback from real users. Everything else goes to the annex for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&amp; BEACHHEAD (15 s). Show the first segment you will target and why, then how big it is. A focused, well-argued niche is more credible than the whole world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MODEL (15 s). State clearly who pays, for what and how often. Take it straight from your Business Model Canvas.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COMPETITION / POSITIONING (10 s). Compare yourself with current practice and with 'doing nothing', not only with other startups. Choose two criteria your customer really cares about for the axes.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(10 s). Show why this team can deliver and how you cover missing skills (advisers, mentors, partners). Group members by area if you have more than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(10 s). Concrete milestones with approximate dates (go-to-market or Gantt chart). Juries often ask what happens after iGEM, so include at least one milestone beyond the competition.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&amp; CLOSING LINE (10 s). Say exactly what you need (funding, partners, pilots, feedback) and repeat your one memorable line. Delete any ask card you do not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 (Q&amp;A only). Not part of the 3 minutes. Duplicate a CONTENT slide after this one for each backup topic. These slides keep the pitch lean and let you answer in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766560" cy="685800"/>
          </a:xfrm>
          <a:prstGeom prst="rect">
            <a:avLst/>
          </a:prstGeom>
          <a:noFill/>
          <a:ln/>
        </p:spPr>
        <p:txBody>
          <a:bodyPr wrap="square" rtlCol="0"/>
          <a:lstStyle>
            <a:lvl1pPr algn="l" indent="0" marL="0">
              <a:buNone/>
              <a:defRPr lang="en-US" sz="2600" b="1" dirty="0">
                <a:solidFill>
                  <a:schemeClr val="tx2"/>
                </a:solidFill>
              </a:defRPr>
            </a:lvl1pPr>
          </a:lstStyle>
          <a:p>
            <a:pPr algn="l" indent="0" marL="0">
              <a:buNone/>
            </a:pPr>
            <a:r>
              <a:rPr lang="en-US" sz="2600" b="1" dirty="0">
                <a:solidFill>
                  <a:schemeClr val="tx2"/>
                </a:solidFill>
              </a:rPr>
              <a:t>[Slide title]</a:t>
            </a:r>
            <a:endParaRPr lang="en-US" sz="2600" dirty="0"/>
          </a:p>
        </p:txBody>
      </p:sp>
      <p:sp>
        <p:nvSpPr>
          <p:cNvPr id="3" name="Text 0"/>
          <p:cNvSpPr/>
          <p:nvPr/>
        </p:nvSpPr>
        <p:spPr>
          <a:xfrm>
            <a:off x="457200" y="4754880"/>
            <a:ext cx="3657600" cy="274320"/>
          </a:xfrm>
          <a:prstGeom prst="rect">
            <a:avLst/>
          </a:prstGeom>
          <a:noFill/>
          <a:ln/>
        </p:spPr>
        <p:txBody>
          <a:bodyPr wrap="square" lIns="0" tIns="0" rIns="0" bIns="0" rtlCol="0" anchor="ctr"/>
          <a:lstStyle/>
          <a:p>
            <a:pPr indent="0" marL="0">
              <a:buNone/>
            </a:pPr>
            <a:r>
              <a:rPr lang="en-US" sz="1000" dirty="0">
                <a:solidFill>
                  <a:schemeClr val="accent5"/>
                </a:solidFill>
              </a:rPr>
              <a:t>[Team name] · iGEM [Year]</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766560" cy="685800"/>
          </a:xfrm>
          <a:prstGeom prst="rect">
            <a:avLst/>
          </a:prstGeom>
          <a:noFill/>
          <a:ln/>
        </p:spPr>
        <p:txBody>
          <a:bodyPr wrap="square" rtlCol="0"/>
          <a:lstStyle>
            <a:lvl1pPr algn="l" indent="0" marL="0">
              <a:buNone/>
              <a:defRPr lang="en-US" sz="2600" b="1" dirty="0">
                <a:solidFill>
                  <a:schemeClr val="bg1"/>
                </a:solidFill>
              </a:defRPr>
            </a:lvl1pPr>
          </a:lstStyle>
          <a:p>
            <a:pPr algn="l" indent="0" marL="0">
              <a:buNone/>
            </a:pPr>
            <a:r>
              <a:rPr lang="en-US" sz="2600" b="1" dirty="0">
                <a:solidFill>
                  <a:schemeClr val="bg1"/>
                </a:solidFill>
              </a:rPr>
              <a:t>[Slide title]</a:t>
            </a:r>
            <a:endParaRPr lang="en-US" sz="2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3.xml"/><Relationship Id="rId7"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766560" cy="685800"/>
          </a:xfrm>
          <a:prstGeom prst="rect">
            <a:avLst/>
          </a:prstGeom>
          <a:noFill/>
          <a:ln/>
        </p:spPr>
        <p:txBody>
          <a:bodyPr wrap="square" lIns="0" tIns="0" rIns="0" bIns="0" rtlCol="0" anchor="ctr"/>
          <a:lstStyle/>
          <a:p>
            <a:pPr algn="l" indent="0" marL="0">
              <a:buNone/>
            </a:pPr>
            <a:r>
              <a:rPr lang="en-US" sz="2600" b="1" dirty="0">
                <a:solidFill>
                  <a:schemeClr val="bg1"/>
                </a:solidFill>
              </a:rPr>
              <a:t>[Team name]</a:t>
            </a:r>
            <a:endParaRPr lang="en-US" sz="2600" dirty="0"/>
          </a:p>
        </p:txBody>
      </p:sp>
      <p:sp>
        <p:nvSpPr>
          <p:cNvPr id="3" name="Timing chip"/>
          <p:cNvSpPr/>
          <p:nvPr/>
        </p:nvSpPr>
        <p:spPr>
          <a:xfrm>
            <a:off x="7315200" y="429768"/>
            <a:ext cx="1371600" cy="384048"/>
          </a:xfrm>
          <a:prstGeom prst="roundRect">
            <a:avLst>
              <a:gd name="adj" fmla="val 50000"/>
            </a:avLst>
          </a:prstGeom>
          <a:solidFill>
            <a:schemeClr val="accent2"/>
          </a:solidFill>
          <a:ln/>
        </p:spPr>
      </p:sp>
      <p:sp>
        <p:nvSpPr>
          <p:cNvPr id="4" name="Timing"/>
          <p:cNvSpPr txBox="1"/>
          <p:nvPr/>
        </p:nvSpPr>
        <p:spPr>
          <a:xfrm>
            <a:off x="7315200" y="429768"/>
            <a:ext cx="1371600" cy="384048"/>
          </a:xfrm>
          <a:prstGeom prst="rect">
            <a:avLst/>
          </a:prstGeom>
          <a:noFill/>
          <a:ln/>
        </p:spPr>
        <p:txBody>
          <a:bodyPr wrap="square" lIns="0" tIns="0" rIns="0" bIns="0" rtlCol="0" anchor="ctr"/>
          <a:lstStyle/>
          <a:p>
            <a:pPr algn="ctr" indent="0" marL="0">
              <a:buNone/>
            </a:pPr>
            <a:r>
              <a:rPr lang="en-US" sz="1300" b="1" dirty="0">
                <a:solidFill>
                  <a:schemeClr val="tx2"/>
                </a:solidFill>
              </a:rPr>
              <a:t>15 s</a:t>
            </a:r>
            <a:endParaRPr lang="en-US" sz="1300" dirty="0"/>
          </a:p>
        </p:txBody>
      </p:sp>
      <p:sp>
        <p:nvSpPr>
          <p:cNvPr id="5" name="Section label"/>
          <p:cNvSpPr txBox="1"/>
          <p:nvPr/>
        </p:nvSpPr>
        <p:spPr>
          <a:xfrm>
            <a:off x="457200" y="109728"/>
            <a:ext cx="4572000" cy="256032"/>
          </a:xfrm>
          <a:prstGeom prst="rect">
            <a:avLst/>
          </a:prstGeom>
          <a:noFill/>
          <a:ln/>
        </p:spPr>
        <p:txBody>
          <a:bodyPr wrap="square" lIns="0" tIns="0" rIns="0" bIns="0" rtlCol="0" anchor="ctr"/>
          <a:lstStyle/>
          <a:p>
            <a:pPr indent="0" marL="0">
              <a:buNone/>
            </a:pPr>
            <a:r>
              <a:rPr lang="en-US" sz="1100" b="1" spc="100" kern="0" dirty="0">
                <a:solidFill>
                  <a:schemeClr val="accent2"/>
                </a:solidFill>
                <a:latin typeface="+mj-lt" pitchFamily="34" charset="0"/>
                <a:ea typeface="+mj-lt" pitchFamily="34" charset="-122"/>
                <a:cs typeface="+mj-lt" pitchFamily="34" charset="-120"/>
              </a:rPr>
              <a:t>01 · HOOK</a:t>
            </a:r>
            <a:endParaRPr lang="en-US" sz="1100" dirty="0"/>
          </a:p>
        </p:txBody>
      </p:sp>
      <p:sp>
        <p:nvSpPr>
          <p:cNvPr id="6" name="Hook statement"/>
          <p:cNvSpPr txBox="1"/>
          <p:nvPr/>
        </p:nvSpPr>
        <p:spPr>
          <a:xfrm>
            <a:off x="457200" y="1417320"/>
            <a:ext cx="5669280" cy="1463040"/>
          </a:xfrm>
          <a:prstGeom prst="rect">
            <a:avLst/>
          </a:prstGeom>
          <a:noFill/>
          <a:ln/>
        </p:spPr>
        <p:txBody>
          <a:bodyPr wrap="square" lIns="0" tIns="0" rIns="0" bIns="0" rtlCol="0" anchor="t"/>
          <a:lstStyle/>
          <a:p>
            <a:pPr indent="0" marL="0">
              <a:buNone/>
            </a:pPr>
            <a:r>
              <a:rPr lang="en-US" sz="3000" b="1" dirty="0">
                <a:solidFill>
                  <a:srgbClr val="FFFFFF"/>
                </a:solidFill>
                <a:latin typeface="+mj-lt" pitchFamily="34" charset="0"/>
                <a:ea typeface="+mj-lt" pitchFamily="34" charset="-122"/>
                <a:cs typeface="+mj-lt" pitchFamily="34" charset="-120"/>
              </a:rPr>
              <a:t>[One striking fact, question or scene about the problem]</a:t>
            </a:r>
            <a:endParaRPr lang="en-US" sz="3000" dirty="0"/>
          </a:p>
        </p:txBody>
      </p:sp>
      <p:sp>
        <p:nvSpPr>
          <p:cNvPr id="7" name="Project line"/>
          <p:cNvSpPr txBox="1"/>
          <p:nvPr/>
        </p:nvSpPr>
        <p:spPr>
          <a:xfrm>
            <a:off x="457200" y="3200400"/>
            <a:ext cx="5669280" cy="365760"/>
          </a:xfrm>
          <a:prstGeom prst="rect">
            <a:avLst/>
          </a:prstGeom>
          <a:noFill/>
          <a:ln/>
        </p:spPr>
        <p:txBody>
          <a:bodyPr wrap="square" lIns="0" tIns="0" rIns="0" bIns="0" rtlCol="0" anchor="ctr"/>
          <a:lstStyle/>
          <a:p>
            <a:pPr indent="0" marL="0">
              <a:buNone/>
            </a:pPr>
            <a:r>
              <a:rPr lang="en-US" sz="1600" i="1" dirty="0">
                <a:solidFill>
                  <a:srgbClr val="C9DDB5"/>
                </a:solidFill>
              </a:rPr>
              <a:t>[Project name] · [one-line description]</a:t>
            </a:r>
            <a:endParaRPr lang="en-US" sz="1600" dirty="0"/>
          </a:p>
        </p:txBody>
      </p:sp>
      <p:sp>
        <p:nvSpPr>
          <p:cNvPr id="8" name="Visual placeholder"/>
          <p:cNvSpPr/>
          <p:nvPr/>
        </p:nvSpPr>
        <p:spPr>
          <a:xfrm>
            <a:off x="6492240" y="1417320"/>
            <a:ext cx="2194560" cy="2194560"/>
          </a:xfrm>
          <a:prstGeom prst="roundRect">
            <a:avLst>
              <a:gd name="adj" fmla="val 3333"/>
            </a:avLst>
          </a:prstGeom>
          <a:solidFill>
            <a:schemeClr val="accent3"/>
          </a:solidFill>
          <a:ln/>
        </p:spPr>
      </p:sp>
      <p:sp>
        <p:nvSpPr>
          <p:cNvPr id="9" name="Text 7"/>
          <p:cNvSpPr txBox="1"/>
          <p:nvPr/>
        </p:nvSpPr>
        <p:spPr>
          <a:xfrm>
            <a:off x="6492240" y="1417320"/>
            <a:ext cx="2194560" cy="2194560"/>
          </a:xfrm>
          <a:prstGeom prst="rect">
            <a:avLst/>
          </a:prstGeom>
          <a:noFill/>
          <a:ln/>
        </p:spPr>
        <p:txBody>
          <a:bodyPr wrap="square" rtlCol="0" anchor="ctr"/>
          <a:lstStyle/>
          <a:p>
            <a:pPr algn="ctr" indent="0" marL="0">
              <a:buNone/>
            </a:pPr>
            <a:r>
              <a:rPr lang="en-US" sz="1200" i="1" dirty="0">
                <a:solidFill>
                  <a:srgbClr val="FFFFFF"/>
                </a:solidFill>
              </a:rPr>
              <a:t>[Team logo or problem image]</a:t>
            </a:r>
            <a:endParaRPr lang="en-US" sz="1200" dirty="0"/>
          </a:p>
        </p:txBody>
      </p:sp>
      <p:sp>
        <p:nvSpPr>
          <p:cNvPr id="10" name="Text 8"/>
          <p:cNvSpPr txBox="1"/>
          <p:nvPr/>
        </p:nvSpPr>
        <p:spPr>
          <a:xfrm>
            <a:off x="457200" y="4754880"/>
            <a:ext cx="4572000" cy="274320"/>
          </a:xfrm>
          <a:prstGeom prst="rect">
            <a:avLst/>
          </a:prstGeom>
          <a:noFill/>
          <a:ln/>
        </p:spPr>
        <p:txBody>
          <a:bodyPr wrap="square" lIns="0" tIns="0" rIns="0" bIns="0" rtlCol="0" anchor="ctr"/>
          <a:lstStyle/>
          <a:p>
            <a:pPr indent="0" marL="0">
              <a:buNone/>
            </a:pPr>
            <a:r>
              <a:rPr lang="en-US" sz="1000" dirty="0">
                <a:solidFill>
                  <a:schemeClr val="accent4"/>
                </a:solidFill>
              </a:rPr>
              <a:t>[Team name] · [University] · iGEM [Year]</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766560" cy="685800"/>
          </a:xfrm>
          <a:prstGeom prst="rect">
            <a:avLst/>
          </a:prstGeom>
          <a:noFill/>
          <a:ln/>
        </p:spPr>
        <p:txBody>
          <a:bodyPr wrap="square" lIns="0" tIns="0" rIns="0" bIns="0" rtlCol="0" anchor="ctr"/>
          <a:lstStyle/>
          <a:p>
            <a:pPr algn="l" indent="0" marL="0">
              <a:buNone/>
            </a:pPr>
            <a:r>
              <a:rPr lang="en-US" sz="2600" b="1" dirty="0">
                <a:solidFill>
                  <a:schemeClr val="tx2"/>
                </a:solidFill>
              </a:rPr>
              <a:t>[The problem, in one sentence]</a:t>
            </a:r>
            <a:endParaRPr lang="en-US" sz="2600" dirty="0"/>
          </a:p>
        </p:txBody>
      </p:sp>
      <p:sp>
        <p:nvSpPr>
          <p:cNvPr id="3" name="Timing chip"/>
          <p:cNvSpPr/>
          <p:nvPr/>
        </p:nvSpPr>
        <p:spPr>
          <a:xfrm>
            <a:off x="7315200" y="429768"/>
            <a:ext cx="1371600" cy="384048"/>
          </a:xfrm>
          <a:prstGeom prst="roundRect">
            <a:avLst>
              <a:gd name="adj" fmla="val 50000"/>
            </a:avLst>
          </a:prstGeom>
          <a:solidFill>
            <a:schemeClr val="bg2"/>
          </a:solidFill>
          <a:ln/>
        </p:spPr>
      </p:sp>
      <p:sp>
        <p:nvSpPr>
          <p:cNvPr id="4" name="Timing"/>
          <p:cNvSpPr txBox="1"/>
          <p:nvPr/>
        </p:nvSpPr>
        <p:spPr>
          <a:xfrm>
            <a:off x="7315200" y="429768"/>
            <a:ext cx="1371600" cy="384048"/>
          </a:xfrm>
          <a:prstGeom prst="rect">
            <a:avLst/>
          </a:prstGeom>
          <a:noFill/>
          <a:ln/>
        </p:spPr>
        <p:txBody>
          <a:bodyPr wrap="square" lIns="0" tIns="0" rIns="0" bIns="0" rtlCol="0" anchor="ctr"/>
          <a:lstStyle/>
          <a:p>
            <a:pPr algn="ctr" indent="0" marL="0">
              <a:buNone/>
            </a:pPr>
            <a:r>
              <a:rPr lang="en-US" sz="1300" b="1" dirty="0">
                <a:solidFill>
                  <a:schemeClr val="tx2"/>
                </a:solidFill>
              </a:rPr>
              <a:t>20 s</a:t>
            </a:r>
            <a:endParaRPr lang="en-US" sz="1300" dirty="0"/>
          </a:p>
        </p:txBody>
      </p:sp>
      <p:sp>
        <p:nvSpPr>
          <p:cNvPr id="5" name="Section label"/>
          <p:cNvSpPr txBox="1"/>
          <p:nvPr/>
        </p:nvSpPr>
        <p:spPr>
          <a:xfrm>
            <a:off x="457200" y="109728"/>
            <a:ext cx="4572000" cy="256032"/>
          </a:xfrm>
          <a:prstGeom prst="rect">
            <a:avLst/>
          </a:prstGeom>
          <a:noFill/>
          <a:ln/>
        </p:spPr>
        <p:txBody>
          <a:bodyPr wrap="square" lIns="0" tIns="0" rIns="0" bIns="0" rtlCol="0" anchor="ctr"/>
          <a:lstStyle/>
          <a:p>
            <a:pPr indent="0" marL="0">
              <a:buNone/>
            </a:pPr>
            <a:r>
              <a:rPr lang="en-US" sz="1100" b="1" spc="100" kern="0" dirty="0">
                <a:solidFill>
                  <a:schemeClr val="accent2"/>
                </a:solidFill>
                <a:latin typeface="+mj-lt" pitchFamily="34" charset="0"/>
                <a:ea typeface="+mj-lt" pitchFamily="34" charset="-122"/>
                <a:cs typeface="+mj-lt" pitchFamily="34" charset="-120"/>
              </a:rPr>
              <a:t>02 · PROBLEM &amp; WHO SUFFERS IT</a:t>
            </a:r>
            <a:endParaRPr lang="en-US" sz="1100" dirty="0"/>
          </a:p>
        </p:txBody>
      </p:sp>
      <p:sp>
        <p:nvSpPr>
          <p:cNvPr id="6" name="Persona card"/>
          <p:cNvSpPr/>
          <p:nvPr/>
        </p:nvSpPr>
        <p:spPr>
          <a:xfrm>
            <a:off x="457200" y="1280160"/>
            <a:ext cx="4023360" cy="3200400"/>
          </a:xfrm>
          <a:prstGeom prst="roundRect">
            <a:avLst>
              <a:gd name="adj" fmla="val 2286"/>
            </a:avLst>
          </a:prstGeom>
          <a:solidFill>
            <a:schemeClr val="bg2"/>
          </a:solidFill>
          <a:ln/>
        </p:spPr>
      </p:sp>
      <p:sp>
        <p:nvSpPr>
          <p:cNvPr id="7" name="Icon circle"/>
          <p:cNvSpPr/>
          <p:nvPr/>
        </p:nvSpPr>
        <p:spPr>
          <a:xfrm>
            <a:off x="731520" y="1554480"/>
            <a:ext cx="822960" cy="822960"/>
          </a:xfrm>
          <a:prstGeom prst="ellipse">
            <a:avLst/>
          </a:prstGeom>
          <a:solidFill>
            <a:schemeClr val="tx2"/>
          </a:solidFill>
          <a:ln/>
        </p:spPr>
      </p:sp>
      <p:pic>
        <p:nvPicPr>
          <p:cNvPr id="8" name="Image 0" descr="icon">    </p:cNvPr>
          <p:cNvPicPr>
            <a:picLocks noChangeAspect="1"/>
          </p:cNvPicPr>
          <p:nvPr/>
        </p:nvPicPr>
        <p:blipFill>
          <a:blip r:embed="rId1"/>
          <a:stretch>
            <a:fillRect/>
          </a:stretch>
        </p:blipFill>
        <p:spPr>
          <a:xfrm>
            <a:off x="937260" y="1760220"/>
            <a:ext cx="411480" cy="411480"/>
          </a:xfrm>
          <a:prstGeom prst="rect">
            <a:avLst/>
          </a:prstGeom>
        </p:spPr>
      </p:pic>
      <p:sp>
        <p:nvSpPr>
          <p:cNvPr id="9" name="Text 6"/>
          <p:cNvSpPr txBox="1"/>
          <p:nvPr/>
        </p:nvSpPr>
        <p:spPr>
          <a:xfrm>
            <a:off x="1737360" y="1554480"/>
            <a:ext cx="2560320" cy="822960"/>
          </a:xfrm>
          <a:prstGeom prst="rect">
            <a:avLst/>
          </a:prstGeom>
          <a:noFill/>
          <a:ln/>
        </p:spPr>
        <p:txBody>
          <a:bodyPr wrap="square" lIns="0" tIns="0" rIns="0" bIns="0" rtlCol="0" anchor="ctr"/>
          <a:lstStyle/>
          <a:p>
            <a:pPr indent="0" marL="0">
              <a:spcAft>
                <a:spcPts val="400"/>
              </a:spcAft>
              <a:buNone/>
            </a:pPr>
            <a:r>
              <a:rPr lang="en-US" sz="1300" b="1" dirty="0">
                <a:solidFill>
                  <a:srgbClr val="314F65"/>
                </a:solidFill>
              </a:rPr>
              <a:t>[Persona: role / organisation type]</a:t>
            </a:r>
            <a:endParaRPr lang="en-US" sz="1300" dirty="0"/>
          </a:p>
          <a:p>
            <a:pPr indent="0" marL="0">
              <a:spcAft>
                <a:spcPts val="400"/>
              </a:spcAft>
              <a:buNone/>
            </a:pPr>
            <a:r>
              <a:rPr lang="en-US" sz="1300" i="1" dirty="0">
                <a:solidFill>
                  <a:schemeClr val="accent5"/>
                </a:solidFill>
              </a:rPr>
              <a:t>[Where and how often they face it]</a:t>
            </a:r>
            <a:endParaRPr lang="en-US" sz="1300" dirty="0"/>
          </a:p>
        </p:txBody>
      </p:sp>
      <p:sp>
        <p:nvSpPr>
          <p:cNvPr id="10" name="Pains"/>
          <p:cNvSpPr txBox="1"/>
          <p:nvPr/>
        </p:nvSpPr>
        <p:spPr>
          <a:xfrm>
            <a:off x="731520" y="2606040"/>
            <a:ext cx="3566160" cy="1645920"/>
          </a:xfrm>
          <a:prstGeom prst="rect">
            <a:avLst/>
          </a:prstGeom>
          <a:noFill/>
          <a:ln/>
        </p:spPr>
        <p:txBody>
          <a:bodyPr wrap="square" lIns="0" tIns="0" rIns="0" bIns="0" rtlCol="0" anchor="t"/>
          <a:lstStyle/>
          <a:p>
            <a:pPr marL="342900" indent="-342900">
              <a:spcAft>
                <a:spcPts val="800"/>
              </a:spcAft>
              <a:buSzPct val="100000"/>
              <a:buChar char="•"/>
            </a:pPr>
            <a:r>
              <a:rPr lang="en-US" sz="1400" i="1" dirty="0">
                <a:solidFill>
                  <a:schemeClr val="accent5"/>
                </a:solidFill>
              </a:rPr>
              <a:t>[Pain 1: what goes wrong today]</a:t>
            </a:r>
            <a:endParaRPr lang="en-US" sz="1400" dirty="0"/>
          </a:p>
          <a:p>
            <a:pPr marL="342900" indent="-342900">
              <a:spcAft>
                <a:spcPts val="800"/>
              </a:spcAft>
              <a:buSzPct val="100000"/>
              <a:buChar char="•"/>
            </a:pPr>
            <a:r>
              <a:rPr lang="en-US" sz="1400" i="1" dirty="0">
                <a:solidFill>
                  <a:schemeClr val="accent5"/>
                </a:solidFill>
              </a:rPr>
              <a:t>[Pain 2: current workaround and its limits]</a:t>
            </a:r>
            <a:endParaRPr lang="en-US" sz="1400" dirty="0"/>
          </a:p>
          <a:p>
            <a:pPr marL="342900" indent="-342900">
              <a:spcAft>
                <a:spcPts val="800"/>
              </a:spcAft>
              <a:buSzPct val="100000"/>
              <a:buChar char="•"/>
            </a:pPr>
            <a:r>
              <a:rPr lang="en-US" sz="1400" i="1" dirty="0">
                <a:solidFill>
                  <a:schemeClr val="accent5"/>
                </a:solidFill>
              </a:rPr>
              <a:t>[Pain 3: consequence if nothing changes]</a:t>
            </a:r>
            <a:endParaRPr lang="en-US" sz="1400" dirty="0"/>
          </a:p>
        </p:txBody>
      </p:sp>
      <p:sp>
        <p:nvSpPr>
          <p:cNvPr id="11" name="Cost stat"/>
          <p:cNvSpPr txBox="1"/>
          <p:nvPr/>
        </p:nvSpPr>
        <p:spPr>
          <a:xfrm>
            <a:off x="4937760" y="1463040"/>
            <a:ext cx="3749040" cy="1005840"/>
          </a:xfrm>
          <a:prstGeom prst="rect">
            <a:avLst/>
          </a:prstGeom>
          <a:noFill/>
          <a:ln/>
        </p:spPr>
        <p:txBody>
          <a:bodyPr wrap="square" lIns="0" tIns="0" rIns="0" bIns="0" rtlCol="0" anchor="ctr"/>
          <a:lstStyle/>
          <a:p>
            <a:pPr indent="0" marL="0">
              <a:buNone/>
            </a:pPr>
            <a:r>
              <a:rPr lang="en-US" sz="4000" b="1" dirty="0">
                <a:solidFill>
                  <a:srgbClr val="314F65"/>
                </a:solidFill>
                <a:latin typeface="+mj-lt" pitchFamily="34" charset="0"/>
                <a:ea typeface="+mj-lt" pitchFamily="34" charset="-122"/>
                <a:cs typeface="+mj-lt" pitchFamily="34" charset="-120"/>
              </a:rPr>
              <a:t>[€ 000 / year]</a:t>
            </a:r>
            <a:endParaRPr lang="en-US" sz="4000" dirty="0"/>
          </a:p>
        </p:txBody>
      </p:sp>
      <p:sp>
        <p:nvSpPr>
          <p:cNvPr id="12" name="Text 9"/>
          <p:cNvSpPr txBox="1"/>
          <p:nvPr/>
        </p:nvSpPr>
        <p:spPr>
          <a:xfrm>
            <a:off x="4937760" y="2468880"/>
            <a:ext cx="3749040" cy="457200"/>
          </a:xfrm>
          <a:prstGeom prst="rect">
            <a:avLst/>
          </a:prstGeom>
          <a:noFill/>
          <a:ln/>
        </p:spPr>
        <p:txBody>
          <a:bodyPr wrap="square" lIns="0" tIns="0" rIns="0" bIns="0" rtlCol="0" anchor="ctr"/>
          <a:lstStyle/>
          <a:p>
            <a:pPr indent="0" marL="0">
              <a:buNone/>
            </a:pPr>
            <a:r>
              <a:rPr lang="en-US" sz="1400" i="1" dirty="0">
                <a:solidFill>
                  <a:schemeClr val="accent5"/>
                </a:solidFill>
              </a:rPr>
              <a:t>[What the problem costs this customer each year]</a:t>
            </a:r>
            <a:endParaRPr lang="en-US" sz="1400" dirty="0"/>
          </a:p>
        </p:txBody>
      </p:sp>
      <p:sp>
        <p:nvSpPr>
          <p:cNvPr id="13" name="Quote"/>
          <p:cNvSpPr txBox="1"/>
          <p:nvPr/>
        </p:nvSpPr>
        <p:spPr>
          <a:xfrm>
            <a:off x="4937760" y="3291840"/>
            <a:ext cx="3749040" cy="914400"/>
          </a:xfrm>
          <a:prstGeom prst="rect">
            <a:avLst/>
          </a:prstGeom>
          <a:noFill/>
          <a:ln/>
        </p:spPr>
        <p:txBody>
          <a:bodyPr wrap="square" lIns="0" tIns="0" rIns="0" bIns="0" rtlCol="0" anchor="t"/>
          <a:lstStyle/>
          <a:p>
            <a:pPr indent="0" marL="0">
              <a:buNone/>
            </a:pPr>
            <a:r>
              <a:rPr lang="en-US" sz="1400" i="1" dirty="0">
                <a:solidFill>
                  <a:schemeClr val="accent5"/>
                </a:solidFill>
              </a:rPr>
              <a:t>“[Short quote from an interview with a real user]”</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766560" cy="685800"/>
          </a:xfrm>
          <a:prstGeom prst="rect">
            <a:avLst/>
          </a:prstGeom>
          <a:noFill/>
          <a:ln/>
        </p:spPr>
        <p:txBody>
          <a:bodyPr wrap="square" lIns="0" tIns="0" rIns="0" bIns="0" rtlCol="0" anchor="ctr"/>
          <a:lstStyle/>
          <a:p>
            <a:pPr algn="l" indent="0" marL="0">
              <a:buNone/>
            </a:pPr>
            <a:r>
              <a:rPr lang="en-US" sz="2600" b="1" dirty="0">
                <a:solidFill>
                  <a:schemeClr val="tx2"/>
                </a:solidFill>
              </a:rPr>
              <a:t>[Why this must be solved now]</a:t>
            </a:r>
            <a:endParaRPr lang="en-US" sz="2600" dirty="0"/>
          </a:p>
        </p:txBody>
      </p:sp>
      <p:sp>
        <p:nvSpPr>
          <p:cNvPr id="3" name="Timing chip"/>
          <p:cNvSpPr/>
          <p:nvPr/>
        </p:nvSpPr>
        <p:spPr>
          <a:xfrm>
            <a:off x="7315200" y="429768"/>
            <a:ext cx="1371600" cy="384048"/>
          </a:xfrm>
          <a:prstGeom prst="roundRect">
            <a:avLst>
              <a:gd name="adj" fmla="val 50000"/>
            </a:avLst>
          </a:prstGeom>
          <a:solidFill>
            <a:schemeClr val="bg2"/>
          </a:solidFill>
          <a:ln/>
        </p:spPr>
      </p:sp>
      <p:sp>
        <p:nvSpPr>
          <p:cNvPr id="4" name="Timing"/>
          <p:cNvSpPr txBox="1"/>
          <p:nvPr/>
        </p:nvSpPr>
        <p:spPr>
          <a:xfrm>
            <a:off x="7315200" y="429768"/>
            <a:ext cx="1371600" cy="384048"/>
          </a:xfrm>
          <a:prstGeom prst="rect">
            <a:avLst/>
          </a:prstGeom>
          <a:noFill/>
          <a:ln/>
        </p:spPr>
        <p:txBody>
          <a:bodyPr wrap="square" lIns="0" tIns="0" rIns="0" bIns="0" rtlCol="0" anchor="ctr"/>
          <a:lstStyle/>
          <a:p>
            <a:pPr algn="ctr" indent="0" marL="0">
              <a:buNone/>
            </a:pPr>
            <a:r>
              <a:rPr lang="en-US" sz="1300" b="1" dirty="0">
                <a:solidFill>
                  <a:schemeClr val="tx2"/>
                </a:solidFill>
              </a:rPr>
              <a:t>15 s</a:t>
            </a:r>
            <a:endParaRPr lang="en-US" sz="1300" dirty="0"/>
          </a:p>
        </p:txBody>
      </p:sp>
      <p:sp>
        <p:nvSpPr>
          <p:cNvPr id="5" name="Section label"/>
          <p:cNvSpPr txBox="1"/>
          <p:nvPr/>
        </p:nvSpPr>
        <p:spPr>
          <a:xfrm>
            <a:off x="457200" y="109728"/>
            <a:ext cx="4572000" cy="256032"/>
          </a:xfrm>
          <a:prstGeom prst="rect">
            <a:avLst/>
          </a:prstGeom>
          <a:noFill/>
          <a:ln/>
        </p:spPr>
        <p:txBody>
          <a:bodyPr wrap="square" lIns="0" tIns="0" rIns="0" bIns="0" rtlCol="0" anchor="ctr"/>
          <a:lstStyle/>
          <a:p>
            <a:pPr indent="0" marL="0">
              <a:buNone/>
            </a:pPr>
            <a:r>
              <a:rPr lang="en-US" sz="1100" b="1" spc="100" kern="0" dirty="0">
                <a:solidFill>
                  <a:schemeClr val="accent2"/>
                </a:solidFill>
                <a:latin typeface="+mj-lt" pitchFamily="34" charset="0"/>
                <a:ea typeface="+mj-lt" pitchFamily="34" charset="-122"/>
                <a:cs typeface="+mj-lt" pitchFamily="34" charset="-120"/>
              </a:rPr>
              <a:t>03 · WHY NOW</a:t>
            </a:r>
            <a:endParaRPr lang="en-US" sz="1100" dirty="0"/>
          </a:p>
        </p:txBody>
      </p:sp>
      <p:sp>
        <p:nvSpPr>
          <p:cNvPr id="6" name="Why-now card"/>
          <p:cNvSpPr/>
          <p:nvPr/>
        </p:nvSpPr>
        <p:spPr>
          <a:xfrm>
            <a:off x="457200" y="1371600"/>
            <a:ext cx="2560320" cy="2926080"/>
          </a:xfrm>
          <a:prstGeom prst="roundRect">
            <a:avLst>
              <a:gd name="adj" fmla="val 2857"/>
            </a:avLst>
          </a:prstGeom>
          <a:solidFill>
            <a:schemeClr val="bg2"/>
          </a:solidFill>
          <a:ln/>
        </p:spPr>
      </p:sp>
      <p:sp>
        <p:nvSpPr>
          <p:cNvPr id="7" name="Icon circle"/>
          <p:cNvSpPr/>
          <p:nvPr/>
        </p:nvSpPr>
        <p:spPr>
          <a:xfrm>
            <a:off x="731520" y="1645920"/>
            <a:ext cx="731520" cy="731520"/>
          </a:xfrm>
          <a:prstGeom prst="ellipse">
            <a:avLst/>
          </a:prstGeom>
          <a:solidFill>
            <a:schemeClr val="tx2"/>
          </a:solidFill>
          <a:ln/>
        </p:spPr>
      </p:sp>
      <p:pic>
        <p:nvPicPr>
          <p:cNvPr id="8" name="Image 0" descr="icon">    </p:cNvPr>
          <p:cNvPicPr>
            <a:picLocks noChangeAspect="1"/>
          </p:cNvPicPr>
          <p:nvPr/>
        </p:nvPicPr>
        <p:blipFill>
          <a:blip r:embed="rId1"/>
          <a:stretch>
            <a:fillRect/>
          </a:stretch>
        </p:blipFill>
        <p:spPr>
          <a:xfrm>
            <a:off x="914400" y="1828800"/>
            <a:ext cx="365760" cy="365760"/>
          </a:xfrm>
          <a:prstGeom prst="rect">
            <a:avLst/>
          </a:prstGeom>
        </p:spPr>
      </p:pic>
      <p:sp>
        <p:nvSpPr>
          <p:cNvPr id="9" name="Text 6"/>
          <p:cNvSpPr txBox="1"/>
          <p:nvPr/>
        </p:nvSpPr>
        <p:spPr>
          <a:xfrm>
            <a:off x="731520" y="2560320"/>
            <a:ext cx="2103120" cy="365760"/>
          </a:xfrm>
          <a:prstGeom prst="rect">
            <a:avLst/>
          </a:prstGeom>
          <a:noFill/>
          <a:ln/>
        </p:spPr>
        <p:txBody>
          <a:bodyPr wrap="square" lIns="0" tIns="0" rIns="0" bIns="0" rtlCol="0" anchor="ctr"/>
          <a:lstStyle/>
          <a:p>
            <a:pPr indent="0" marL="0">
              <a:buNone/>
            </a:pPr>
            <a:r>
              <a:rPr lang="en-US" sz="1800" b="1" dirty="0">
                <a:solidFill>
                  <a:schemeClr val="tx2"/>
                </a:solidFill>
                <a:latin typeface="+mj-lt" pitchFamily="34" charset="0"/>
                <a:ea typeface="+mj-lt" pitchFamily="34" charset="-122"/>
                <a:cs typeface="+mj-lt" pitchFamily="34" charset="-120"/>
              </a:rPr>
              <a:t>Regulation</a:t>
            </a:r>
            <a:endParaRPr lang="en-US" sz="1800" dirty="0"/>
          </a:p>
        </p:txBody>
      </p:sp>
      <p:sp>
        <p:nvSpPr>
          <p:cNvPr id="10" name="Text 7"/>
          <p:cNvSpPr txBox="1"/>
          <p:nvPr/>
        </p:nvSpPr>
        <p:spPr>
          <a:xfrm>
            <a:off x="731520" y="2971800"/>
            <a:ext cx="2103120" cy="1097280"/>
          </a:xfrm>
          <a:prstGeom prst="rect">
            <a:avLst/>
          </a:prstGeom>
          <a:noFill/>
          <a:ln/>
        </p:spPr>
        <p:txBody>
          <a:bodyPr wrap="square" lIns="0" tIns="0" rIns="0" bIns="0" rtlCol="0" anchor="t"/>
          <a:lstStyle/>
          <a:p>
            <a:pPr indent="0" marL="0">
              <a:buNone/>
            </a:pPr>
            <a:r>
              <a:rPr lang="en-US" sz="1400" i="1" dirty="0">
                <a:solidFill>
                  <a:schemeClr val="accent5"/>
                </a:solidFill>
              </a:rPr>
              <a:t>[New or upcoming rule, with date]</a:t>
            </a:r>
            <a:endParaRPr lang="en-US" sz="1400" dirty="0"/>
          </a:p>
        </p:txBody>
      </p:sp>
      <p:sp>
        <p:nvSpPr>
          <p:cNvPr id="11" name="Why-now card"/>
          <p:cNvSpPr/>
          <p:nvPr/>
        </p:nvSpPr>
        <p:spPr>
          <a:xfrm>
            <a:off x="3291840" y="1371600"/>
            <a:ext cx="2560320" cy="2926080"/>
          </a:xfrm>
          <a:prstGeom prst="roundRect">
            <a:avLst>
              <a:gd name="adj" fmla="val 2857"/>
            </a:avLst>
          </a:prstGeom>
          <a:solidFill>
            <a:schemeClr val="bg2"/>
          </a:solidFill>
          <a:ln/>
        </p:spPr>
      </p:sp>
      <p:sp>
        <p:nvSpPr>
          <p:cNvPr id="12" name="Icon circle"/>
          <p:cNvSpPr/>
          <p:nvPr/>
        </p:nvSpPr>
        <p:spPr>
          <a:xfrm>
            <a:off x="3566160" y="1645920"/>
            <a:ext cx="731520" cy="731520"/>
          </a:xfrm>
          <a:prstGeom prst="ellipse">
            <a:avLst/>
          </a:prstGeom>
          <a:solidFill>
            <a:schemeClr val="tx2"/>
          </a:solidFill>
          <a:ln/>
        </p:spPr>
      </p:sp>
      <p:pic>
        <p:nvPicPr>
          <p:cNvPr id="13" name="Image 1" descr="icon">    </p:cNvPr>
          <p:cNvPicPr>
            <a:picLocks noChangeAspect="1"/>
          </p:cNvPicPr>
          <p:nvPr/>
        </p:nvPicPr>
        <p:blipFill>
          <a:blip r:embed="rId2"/>
          <a:stretch>
            <a:fillRect/>
          </a:stretch>
        </p:blipFill>
        <p:spPr>
          <a:xfrm>
            <a:off x="3749040" y="1828800"/>
            <a:ext cx="365760" cy="365760"/>
          </a:xfrm>
          <a:prstGeom prst="rect">
            <a:avLst/>
          </a:prstGeom>
        </p:spPr>
      </p:pic>
      <p:sp>
        <p:nvSpPr>
          <p:cNvPr id="14" name="Text 10"/>
          <p:cNvSpPr txBox="1"/>
          <p:nvPr/>
        </p:nvSpPr>
        <p:spPr>
          <a:xfrm>
            <a:off x="3566160" y="2560320"/>
            <a:ext cx="2103120" cy="365760"/>
          </a:xfrm>
          <a:prstGeom prst="rect">
            <a:avLst/>
          </a:prstGeom>
          <a:noFill/>
          <a:ln/>
        </p:spPr>
        <p:txBody>
          <a:bodyPr wrap="square" lIns="0" tIns="0" rIns="0" bIns="0" rtlCol="0" anchor="ctr"/>
          <a:lstStyle/>
          <a:p>
            <a:pPr indent="0" marL="0">
              <a:buNone/>
            </a:pPr>
            <a:r>
              <a:rPr lang="en-US" sz="1800" b="1" dirty="0">
                <a:solidFill>
                  <a:schemeClr val="tx2"/>
                </a:solidFill>
                <a:latin typeface="+mj-lt" pitchFamily="34" charset="0"/>
                <a:ea typeface="+mj-lt" pitchFamily="34" charset="-122"/>
                <a:cs typeface="+mj-lt" pitchFamily="34" charset="-120"/>
              </a:rPr>
              <a:t>Trend</a:t>
            </a:r>
            <a:endParaRPr lang="en-US" sz="1800" dirty="0"/>
          </a:p>
        </p:txBody>
      </p:sp>
      <p:sp>
        <p:nvSpPr>
          <p:cNvPr id="15" name="Text 11"/>
          <p:cNvSpPr txBox="1"/>
          <p:nvPr/>
        </p:nvSpPr>
        <p:spPr>
          <a:xfrm>
            <a:off x="3566160" y="2971800"/>
            <a:ext cx="2103120" cy="1097280"/>
          </a:xfrm>
          <a:prstGeom prst="rect">
            <a:avLst/>
          </a:prstGeom>
          <a:noFill/>
          <a:ln/>
        </p:spPr>
        <p:txBody>
          <a:bodyPr wrap="square" lIns="0" tIns="0" rIns="0" bIns="0" rtlCol="0" anchor="t"/>
          <a:lstStyle/>
          <a:p>
            <a:pPr indent="0" marL="0">
              <a:buNone/>
            </a:pPr>
            <a:r>
              <a:rPr lang="en-US" sz="1400" i="1" dirty="0">
                <a:solidFill>
                  <a:schemeClr val="accent5"/>
                </a:solidFill>
              </a:rPr>
              <a:t>[Cost, demand or social trend]</a:t>
            </a:r>
            <a:endParaRPr lang="en-US" sz="1400" dirty="0"/>
          </a:p>
        </p:txBody>
      </p:sp>
      <p:sp>
        <p:nvSpPr>
          <p:cNvPr id="16" name="Why-now card"/>
          <p:cNvSpPr/>
          <p:nvPr/>
        </p:nvSpPr>
        <p:spPr>
          <a:xfrm>
            <a:off x="6126480" y="1371600"/>
            <a:ext cx="2560320" cy="2926080"/>
          </a:xfrm>
          <a:prstGeom prst="roundRect">
            <a:avLst>
              <a:gd name="adj" fmla="val 2857"/>
            </a:avLst>
          </a:prstGeom>
          <a:solidFill>
            <a:schemeClr val="bg2"/>
          </a:solidFill>
          <a:ln/>
        </p:spPr>
      </p:sp>
      <p:sp>
        <p:nvSpPr>
          <p:cNvPr id="17" name="Icon circle"/>
          <p:cNvSpPr/>
          <p:nvPr/>
        </p:nvSpPr>
        <p:spPr>
          <a:xfrm>
            <a:off x="6400800" y="1645920"/>
            <a:ext cx="731520" cy="731520"/>
          </a:xfrm>
          <a:prstGeom prst="ellipse">
            <a:avLst/>
          </a:prstGeom>
          <a:solidFill>
            <a:schemeClr val="tx2"/>
          </a:solidFill>
          <a:ln/>
        </p:spPr>
      </p:sp>
      <p:pic>
        <p:nvPicPr>
          <p:cNvPr id="18" name="Image 2" descr="icon">    </p:cNvPr>
          <p:cNvPicPr>
            <a:picLocks noChangeAspect="1"/>
          </p:cNvPicPr>
          <p:nvPr/>
        </p:nvPicPr>
        <p:blipFill>
          <a:blip r:embed="rId3"/>
          <a:stretch>
            <a:fillRect/>
          </a:stretch>
        </p:blipFill>
        <p:spPr>
          <a:xfrm>
            <a:off x="6583680" y="1828800"/>
            <a:ext cx="365760" cy="365760"/>
          </a:xfrm>
          <a:prstGeom prst="rect">
            <a:avLst/>
          </a:prstGeom>
        </p:spPr>
      </p:pic>
      <p:sp>
        <p:nvSpPr>
          <p:cNvPr id="19" name="Text 14"/>
          <p:cNvSpPr txBox="1"/>
          <p:nvPr/>
        </p:nvSpPr>
        <p:spPr>
          <a:xfrm>
            <a:off x="6400800" y="2560320"/>
            <a:ext cx="2103120" cy="365760"/>
          </a:xfrm>
          <a:prstGeom prst="rect">
            <a:avLst/>
          </a:prstGeom>
          <a:noFill/>
          <a:ln/>
        </p:spPr>
        <p:txBody>
          <a:bodyPr wrap="square" lIns="0" tIns="0" rIns="0" bIns="0" rtlCol="0" anchor="ctr"/>
          <a:lstStyle/>
          <a:p>
            <a:pPr indent="0" marL="0">
              <a:buNone/>
            </a:pPr>
            <a:r>
              <a:rPr lang="en-US" sz="1800" b="1" dirty="0">
                <a:solidFill>
                  <a:schemeClr val="tx2"/>
                </a:solidFill>
                <a:latin typeface="+mj-lt" pitchFamily="34" charset="0"/>
                <a:ea typeface="+mj-lt" pitchFamily="34" charset="-122"/>
                <a:cs typeface="+mj-lt" pitchFamily="34" charset="-120"/>
              </a:rPr>
              <a:t>Market shift</a:t>
            </a:r>
            <a:endParaRPr lang="en-US" sz="1800" dirty="0"/>
          </a:p>
        </p:txBody>
      </p:sp>
      <p:sp>
        <p:nvSpPr>
          <p:cNvPr id="20" name="Text 15"/>
          <p:cNvSpPr txBox="1"/>
          <p:nvPr/>
        </p:nvSpPr>
        <p:spPr>
          <a:xfrm>
            <a:off x="6400800" y="2971800"/>
            <a:ext cx="2103120" cy="1097280"/>
          </a:xfrm>
          <a:prstGeom prst="rect">
            <a:avLst/>
          </a:prstGeom>
          <a:noFill/>
          <a:ln/>
        </p:spPr>
        <p:txBody>
          <a:bodyPr wrap="square" lIns="0" tIns="0" rIns="0" bIns="0" rtlCol="0" anchor="t"/>
          <a:lstStyle/>
          <a:p>
            <a:pPr indent="0" marL="0">
              <a:buNone/>
            </a:pPr>
            <a:r>
              <a:rPr lang="en-US" sz="1400" i="1" dirty="0">
                <a:solidFill>
                  <a:schemeClr val="accent5"/>
                </a:solidFill>
              </a:rPr>
              <a:t>[Technology or market change that opens the window]</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766560" cy="685800"/>
          </a:xfrm>
          <a:prstGeom prst="rect">
            <a:avLst/>
          </a:prstGeom>
          <a:noFill/>
          <a:ln/>
        </p:spPr>
        <p:txBody>
          <a:bodyPr wrap="square" lIns="0" tIns="0" rIns="0" bIns="0" rtlCol="0" anchor="ctr"/>
          <a:lstStyle/>
          <a:p>
            <a:pPr algn="l" indent="0" marL="0">
              <a:buNone/>
            </a:pPr>
            <a:r>
              <a:rPr lang="en-US" sz="2600" b="1" dirty="0">
                <a:solidFill>
                  <a:schemeClr val="tx2"/>
                </a:solidFill>
              </a:rPr>
              <a:t>[What your solution does for them]</a:t>
            </a:r>
            <a:endParaRPr lang="en-US" sz="2600" dirty="0"/>
          </a:p>
        </p:txBody>
      </p:sp>
      <p:sp>
        <p:nvSpPr>
          <p:cNvPr id="3" name="Timing chip"/>
          <p:cNvSpPr/>
          <p:nvPr/>
        </p:nvSpPr>
        <p:spPr>
          <a:xfrm>
            <a:off x="7315200" y="429768"/>
            <a:ext cx="1371600" cy="384048"/>
          </a:xfrm>
          <a:prstGeom prst="roundRect">
            <a:avLst>
              <a:gd name="adj" fmla="val 50000"/>
            </a:avLst>
          </a:prstGeom>
          <a:solidFill>
            <a:schemeClr val="bg2"/>
          </a:solidFill>
          <a:ln/>
        </p:spPr>
      </p:sp>
      <p:sp>
        <p:nvSpPr>
          <p:cNvPr id="4" name="Timing"/>
          <p:cNvSpPr txBox="1"/>
          <p:nvPr/>
        </p:nvSpPr>
        <p:spPr>
          <a:xfrm>
            <a:off x="7315200" y="429768"/>
            <a:ext cx="1371600" cy="384048"/>
          </a:xfrm>
          <a:prstGeom prst="rect">
            <a:avLst/>
          </a:prstGeom>
          <a:noFill/>
          <a:ln/>
        </p:spPr>
        <p:txBody>
          <a:bodyPr wrap="square" lIns="0" tIns="0" rIns="0" bIns="0" rtlCol="0" anchor="ctr"/>
          <a:lstStyle/>
          <a:p>
            <a:pPr algn="ctr" indent="0" marL="0">
              <a:buNone/>
            </a:pPr>
            <a:r>
              <a:rPr lang="en-US" sz="1300" b="1" dirty="0">
                <a:solidFill>
                  <a:schemeClr val="tx2"/>
                </a:solidFill>
              </a:rPr>
              <a:t>20 s</a:t>
            </a:r>
            <a:endParaRPr lang="en-US" sz="1300" dirty="0"/>
          </a:p>
        </p:txBody>
      </p:sp>
      <p:sp>
        <p:nvSpPr>
          <p:cNvPr id="5" name="Section label"/>
          <p:cNvSpPr txBox="1"/>
          <p:nvPr/>
        </p:nvSpPr>
        <p:spPr>
          <a:xfrm>
            <a:off x="457200" y="109728"/>
            <a:ext cx="4572000" cy="256032"/>
          </a:xfrm>
          <a:prstGeom prst="rect">
            <a:avLst/>
          </a:prstGeom>
          <a:noFill/>
          <a:ln/>
        </p:spPr>
        <p:txBody>
          <a:bodyPr wrap="square" lIns="0" tIns="0" rIns="0" bIns="0" rtlCol="0" anchor="ctr"/>
          <a:lstStyle/>
          <a:p>
            <a:pPr indent="0" marL="0">
              <a:buNone/>
            </a:pPr>
            <a:r>
              <a:rPr lang="en-US" sz="1100" b="1" spc="100" kern="0" dirty="0">
                <a:solidFill>
                  <a:schemeClr val="accent2"/>
                </a:solidFill>
                <a:latin typeface="+mj-lt" pitchFamily="34" charset="0"/>
                <a:ea typeface="+mj-lt" pitchFamily="34" charset="-122"/>
                <a:cs typeface="+mj-lt" pitchFamily="34" charset="-120"/>
              </a:rPr>
              <a:t>04 · SOLUTION</a:t>
            </a:r>
            <a:endParaRPr lang="en-US" sz="1100" dirty="0"/>
          </a:p>
        </p:txBody>
      </p:sp>
      <p:sp>
        <p:nvSpPr>
          <p:cNvPr id="6" name="Before card"/>
          <p:cNvSpPr/>
          <p:nvPr/>
        </p:nvSpPr>
        <p:spPr>
          <a:xfrm>
            <a:off x="457200" y="1280160"/>
            <a:ext cx="3931920" cy="3108960"/>
          </a:xfrm>
          <a:prstGeom prst="roundRect">
            <a:avLst>
              <a:gd name="adj" fmla="val 2353"/>
            </a:avLst>
          </a:prstGeom>
          <a:solidFill>
            <a:schemeClr val="accent6"/>
          </a:solidFill>
          <a:ln/>
        </p:spPr>
      </p:sp>
      <p:sp>
        <p:nvSpPr>
          <p:cNvPr id="7" name="After card"/>
          <p:cNvSpPr/>
          <p:nvPr/>
        </p:nvSpPr>
        <p:spPr>
          <a:xfrm>
            <a:off x="4754880" y="1280160"/>
            <a:ext cx="3931920" cy="3108960"/>
          </a:xfrm>
          <a:prstGeom prst="roundRect">
            <a:avLst>
              <a:gd name="adj" fmla="val 2353"/>
            </a:avLst>
          </a:prstGeom>
          <a:solidFill>
            <a:schemeClr val="bg2"/>
          </a:solidFill>
          <a:ln/>
        </p:spPr>
      </p:sp>
      <p:sp>
        <p:nvSpPr>
          <p:cNvPr id="8" name="Text 6"/>
          <p:cNvSpPr txBox="1"/>
          <p:nvPr/>
        </p:nvSpPr>
        <p:spPr>
          <a:xfrm>
            <a:off x="731520" y="1463040"/>
            <a:ext cx="3383280" cy="411480"/>
          </a:xfrm>
          <a:prstGeom prst="rect">
            <a:avLst/>
          </a:prstGeom>
          <a:noFill/>
          <a:ln/>
        </p:spPr>
        <p:txBody>
          <a:bodyPr wrap="square" lIns="0" tIns="0" rIns="0" bIns="0" rtlCol="0" anchor="ctr"/>
          <a:lstStyle/>
          <a:p>
            <a:pPr indent="0" marL="0">
              <a:buNone/>
            </a:pPr>
            <a:r>
              <a:rPr lang="en-US" sz="1800" b="1" dirty="0">
                <a:solidFill>
                  <a:schemeClr val="accent5"/>
                </a:solidFill>
                <a:latin typeface="+mj-lt" pitchFamily="34" charset="0"/>
                <a:ea typeface="+mj-lt" pitchFamily="34" charset="-122"/>
                <a:cs typeface="+mj-lt" pitchFamily="34" charset="-120"/>
              </a:rPr>
              <a:t>Today</a:t>
            </a:r>
            <a:endParaRPr lang="en-US" sz="1800" dirty="0"/>
          </a:p>
        </p:txBody>
      </p:sp>
      <p:sp>
        <p:nvSpPr>
          <p:cNvPr id="9" name="Text 7"/>
          <p:cNvSpPr txBox="1"/>
          <p:nvPr/>
        </p:nvSpPr>
        <p:spPr>
          <a:xfrm>
            <a:off x="5029200" y="1463040"/>
            <a:ext cx="3383280" cy="411480"/>
          </a:xfrm>
          <a:prstGeom prst="rect">
            <a:avLst/>
          </a:prstGeom>
          <a:noFill/>
          <a:ln/>
        </p:spPr>
        <p:txBody>
          <a:bodyPr wrap="square" lIns="0" tIns="0" rIns="0" bIns="0" rtlCol="0" anchor="ctr"/>
          <a:lstStyle/>
          <a:p>
            <a:pPr indent="0" marL="0">
              <a:buNone/>
            </a:pPr>
            <a:r>
              <a:rPr lang="en-US" sz="1800" b="1" dirty="0">
                <a:solidFill>
                  <a:schemeClr val="tx2"/>
                </a:solidFill>
                <a:latin typeface="+mj-lt" pitchFamily="34" charset="0"/>
                <a:ea typeface="+mj-lt" pitchFamily="34" charset="-122"/>
                <a:cs typeface="+mj-lt" pitchFamily="34" charset="-120"/>
              </a:rPr>
              <a:t>With [project name]</a:t>
            </a:r>
            <a:endParaRPr lang="en-US" sz="1800" dirty="0"/>
          </a:p>
        </p:txBody>
      </p:sp>
      <p:sp>
        <p:nvSpPr>
          <p:cNvPr id="10" name="Text 8"/>
          <p:cNvSpPr txBox="1"/>
          <p:nvPr/>
        </p:nvSpPr>
        <p:spPr>
          <a:xfrm>
            <a:off x="731520" y="2011680"/>
            <a:ext cx="3383280" cy="2103120"/>
          </a:xfrm>
          <a:prstGeom prst="rect">
            <a:avLst/>
          </a:prstGeom>
          <a:noFill/>
          <a:ln/>
        </p:spPr>
        <p:txBody>
          <a:bodyPr wrap="square" lIns="0" tIns="0" rIns="0" bIns="0" rtlCol="0" anchor="t"/>
          <a:lstStyle/>
          <a:p>
            <a:pPr marL="342900" indent="-342900">
              <a:spcAft>
                <a:spcPts val="1000"/>
              </a:spcAft>
              <a:buSzPct val="100000"/>
              <a:buChar char="•"/>
            </a:pPr>
            <a:r>
              <a:rPr lang="en-US" sz="1400" i="1" dirty="0">
                <a:solidFill>
                  <a:schemeClr val="accent5"/>
                </a:solidFill>
              </a:rPr>
              <a:t>[Cost or time it takes now]</a:t>
            </a:r>
            <a:endParaRPr lang="en-US" sz="1400" dirty="0"/>
          </a:p>
          <a:p>
            <a:pPr marL="342900" indent="-342900">
              <a:spcAft>
                <a:spcPts val="1000"/>
              </a:spcAft>
              <a:buSzPct val="100000"/>
              <a:buChar char="•"/>
            </a:pPr>
            <a:r>
              <a:rPr lang="en-US" sz="1400" i="1" dirty="0">
                <a:solidFill>
                  <a:schemeClr val="accent5"/>
                </a:solidFill>
              </a:rPr>
              <a:t>[Main risk or limitation]</a:t>
            </a:r>
            <a:endParaRPr lang="en-US" sz="1400" dirty="0"/>
          </a:p>
          <a:p>
            <a:pPr marL="342900" indent="-342900">
              <a:spcAft>
                <a:spcPts val="1000"/>
              </a:spcAft>
              <a:buSzPct val="100000"/>
              <a:buChar char="•"/>
            </a:pPr>
            <a:r>
              <a:rPr lang="en-US" sz="1400" i="1" dirty="0">
                <a:solidFill>
                  <a:schemeClr val="accent5"/>
                </a:solidFill>
              </a:rPr>
              <a:t>[Impact of the current practice]</a:t>
            </a:r>
            <a:endParaRPr lang="en-US" sz="1400" dirty="0"/>
          </a:p>
        </p:txBody>
      </p:sp>
      <p:sp>
        <p:nvSpPr>
          <p:cNvPr id="11" name="Text 9"/>
          <p:cNvSpPr txBox="1"/>
          <p:nvPr/>
        </p:nvSpPr>
        <p:spPr>
          <a:xfrm>
            <a:off x="5029200" y="2011680"/>
            <a:ext cx="3383280" cy="2103120"/>
          </a:xfrm>
          <a:prstGeom prst="rect">
            <a:avLst/>
          </a:prstGeom>
          <a:noFill/>
          <a:ln/>
        </p:spPr>
        <p:txBody>
          <a:bodyPr wrap="square" lIns="0" tIns="0" rIns="0" bIns="0" rtlCol="0" anchor="t"/>
          <a:lstStyle/>
          <a:p>
            <a:pPr marL="342900" indent="-342900">
              <a:spcAft>
                <a:spcPts val="1000"/>
              </a:spcAft>
              <a:buSzPct val="100000"/>
              <a:buChar char="•"/>
            </a:pPr>
            <a:r>
              <a:rPr lang="en-US" sz="1400" i="1" dirty="0">
                <a:solidFill>
                  <a:schemeClr val="accent5"/>
                </a:solidFill>
              </a:rPr>
              <a:t>[What improves: cost / time]</a:t>
            </a:r>
            <a:endParaRPr lang="en-US" sz="1400" dirty="0"/>
          </a:p>
          <a:p>
            <a:pPr marL="342900" indent="-342900">
              <a:spcAft>
                <a:spcPts val="1000"/>
              </a:spcAft>
              <a:buSzPct val="100000"/>
              <a:buChar char="•"/>
            </a:pPr>
            <a:r>
              <a:rPr lang="en-US" sz="1400" i="1" dirty="0">
                <a:solidFill>
                  <a:schemeClr val="accent5"/>
                </a:solidFill>
              </a:rPr>
              <a:t>[What becomes possible or safer]</a:t>
            </a:r>
            <a:endParaRPr lang="en-US" sz="1400" dirty="0"/>
          </a:p>
          <a:p>
            <a:pPr marL="342900" indent="-342900">
              <a:spcAft>
                <a:spcPts val="1000"/>
              </a:spcAft>
              <a:buSzPct val="100000"/>
              <a:buChar char="•"/>
            </a:pPr>
            <a:r>
              <a:rPr lang="en-US" sz="1400" i="1" dirty="0">
                <a:solidFill>
                  <a:schemeClr val="accent5"/>
                </a:solidFill>
              </a:rPr>
              <a:t>[Positive impact for the customer]</a:t>
            </a:r>
            <a:endParaRPr lang="en-US" sz="1400" dirty="0"/>
          </a:p>
        </p:txBody>
      </p:sp>
      <p:sp>
        <p:nvSpPr>
          <p:cNvPr id="12" name="Icon circle"/>
          <p:cNvSpPr/>
          <p:nvPr/>
        </p:nvSpPr>
        <p:spPr>
          <a:xfrm>
            <a:off x="4251960" y="2514600"/>
            <a:ext cx="640080" cy="640080"/>
          </a:xfrm>
          <a:prstGeom prst="ellipse">
            <a:avLst/>
          </a:prstGeom>
          <a:solidFill>
            <a:schemeClr val="accent2"/>
          </a:solidFill>
          <a:ln/>
        </p:spPr>
      </p:sp>
      <p:pic>
        <p:nvPicPr>
          <p:cNvPr id="13" name="Image 0" descr="icon">    </p:cNvPr>
          <p:cNvPicPr>
            <a:picLocks noChangeAspect="1"/>
          </p:cNvPicPr>
          <p:nvPr/>
        </p:nvPicPr>
        <p:blipFill>
          <a:blip r:embed="rId1"/>
          <a:stretch>
            <a:fillRect/>
          </a:stretch>
        </p:blipFill>
        <p:spPr>
          <a:xfrm>
            <a:off x="4411980" y="2674620"/>
            <a:ext cx="320040" cy="320040"/>
          </a:xfrm>
          <a:prstGeom prst="rect">
            <a:avLst/>
          </a:prstGeom>
        </p:spPr>
      </p:pic>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766560" cy="685800"/>
          </a:xfrm>
          <a:prstGeom prst="rect">
            <a:avLst/>
          </a:prstGeom>
          <a:noFill/>
          <a:ln/>
        </p:spPr>
        <p:txBody>
          <a:bodyPr wrap="square" lIns="0" tIns="0" rIns="0" bIns="0" rtlCol="0" anchor="ctr"/>
          <a:lstStyle/>
          <a:p>
            <a:pPr algn="l" indent="0" marL="0">
              <a:buNone/>
            </a:pPr>
            <a:r>
              <a:rPr lang="en-US" sz="2600" b="1" dirty="0">
                <a:solidFill>
                  <a:schemeClr val="tx2"/>
                </a:solidFill>
              </a:rPr>
              <a:t>[How it works, in one picture]</a:t>
            </a:r>
            <a:endParaRPr lang="en-US" sz="2600" dirty="0"/>
          </a:p>
        </p:txBody>
      </p:sp>
      <p:sp>
        <p:nvSpPr>
          <p:cNvPr id="3" name="Timing chip"/>
          <p:cNvSpPr/>
          <p:nvPr/>
        </p:nvSpPr>
        <p:spPr>
          <a:xfrm>
            <a:off x="7315200" y="429768"/>
            <a:ext cx="1371600" cy="384048"/>
          </a:xfrm>
          <a:prstGeom prst="roundRect">
            <a:avLst>
              <a:gd name="adj" fmla="val 50000"/>
            </a:avLst>
          </a:prstGeom>
          <a:solidFill>
            <a:schemeClr val="bg2"/>
          </a:solidFill>
          <a:ln/>
        </p:spPr>
      </p:sp>
      <p:sp>
        <p:nvSpPr>
          <p:cNvPr id="4" name="Timing"/>
          <p:cNvSpPr txBox="1"/>
          <p:nvPr/>
        </p:nvSpPr>
        <p:spPr>
          <a:xfrm>
            <a:off x="7315200" y="429768"/>
            <a:ext cx="1371600" cy="384048"/>
          </a:xfrm>
          <a:prstGeom prst="rect">
            <a:avLst/>
          </a:prstGeom>
          <a:noFill/>
          <a:ln/>
        </p:spPr>
        <p:txBody>
          <a:bodyPr wrap="square" lIns="0" tIns="0" rIns="0" bIns="0" rtlCol="0" anchor="ctr"/>
          <a:lstStyle/>
          <a:p>
            <a:pPr algn="ctr" indent="0" marL="0">
              <a:buNone/>
            </a:pPr>
            <a:r>
              <a:rPr lang="en-US" sz="1300" b="1" dirty="0">
                <a:solidFill>
                  <a:schemeClr val="tx2"/>
                </a:solidFill>
              </a:rPr>
              <a:t>20 s</a:t>
            </a:r>
            <a:endParaRPr lang="en-US" sz="1300" dirty="0"/>
          </a:p>
        </p:txBody>
      </p:sp>
      <p:sp>
        <p:nvSpPr>
          <p:cNvPr id="5" name="Section label"/>
          <p:cNvSpPr txBox="1"/>
          <p:nvPr/>
        </p:nvSpPr>
        <p:spPr>
          <a:xfrm>
            <a:off x="457200" y="109728"/>
            <a:ext cx="4572000" cy="256032"/>
          </a:xfrm>
          <a:prstGeom prst="rect">
            <a:avLst/>
          </a:prstGeom>
          <a:noFill/>
          <a:ln/>
        </p:spPr>
        <p:txBody>
          <a:bodyPr wrap="square" lIns="0" tIns="0" rIns="0" bIns="0" rtlCol="0" anchor="ctr"/>
          <a:lstStyle/>
          <a:p>
            <a:pPr indent="0" marL="0">
              <a:buNone/>
            </a:pPr>
            <a:r>
              <a:rPr lang="en-US" sz="1100" b="1" spc="100" kern="0" dirty="0">
                <a:solidFill>
                  <a:schemeClr val="accent2"/>
                </a:solidFill>
                <a:latin typeface="+mj-lt" pitchFamily="34" charset="0"/>
                <a:ea typeface="+mj-lt" pitchFamily="34" charset="-122"/>
                <a:cs typeface="+mj-lt" pitchFamily="34" charset="-120"/>
              </a:rPr>
              <a:t>05 · HOW IT WORKS</a:t>
            </a:r>
            <a:endParaRPr lang="en-US" sz="1100" dirty="0"/>
          </a:p>
        </p:txBody>
      </p:sp>
      <p:sp>
        <p:nvSpPr>
          <p:cNvPr id="6" name="Diagram area"/>
          <p:cNvSpPr/>
          <p:nvPr/>
        </p:nvSpPr>
        <p:spPr>
          <a:xfrm>
            <a:off x="457200" y="1234440"/>
            <a:ext cx="8229600" cy="2011680"/>
          </a:xfrm>
          <a:prstGeom prst="roundRect">
            <a:avLst>
              <a:gd name="adj" fmla="val 3636"/>
            </a:avLst>
          </a:prstGeom>
          <a:solidFill>
            <a:schemeClr val="bg2"/>
          </a:solidFill>
          <a:ln/>
        </p:spPr>
      </p:sp>
      <p:sp>
        <p:nvSpPr>
          <p:cNvPr id="7" name="Text 5"/>
          <p:cNvSpPr txBox="1"/>
          <p:nvPr/>
        </p:nvSpPr>
        <p:spPr>
          <a:xfrm>
            <a:off x="457200" y="1234440"/>
            <a:ext cx="8229600" cy="2011680"/>
          </a:xfrm>
          <a:prstGeom prst="rect">
            <a:avLst/>
          </a:prstGeom>
          <a:noFill/>
          <a:ln/>
        </p:spPr>
        <p:txBody>
          <a:bodyPr wrap="square" rtlCol="0" anchor="ctr"/>
          <a:lstStyle/>
          <a:p>
            <a:pPr algn="ctr" indent="0" marL="0">
              <a:buNone/>
            </a:pPr>
            <a:r>
              <a:rPr lang="en-US" sz="1400" i="1" dirty="0">
                <a:solidFill>
                  <a:schemeClr val="accent5"/>
                </a:solidFill>
              </a:rPr>
              <a:t>[One simple diagram a non-scientist can follow]</a:t>
            </a:r>
            <a:endParaRPr lang="en-US" sz="1400" dirty="0"/>
          </a:p>
        </p:txBody>
      </p:sp>
      <p:sp>
        <p:nvSpPr>
          <p:cNvPr id="8" name="Shape 6"/>
          <p:cNvSpPr/>
          <p:nvPr/>
        </p:nvSpPr>
        <p:spPr>
          <a:xfrm>
            <a:off x="457200" y="3566160"/>
            <a:ext cx="502920" cy="502920"/>
          </a:xfrm>
          <a:prstGeom prst="ellipse">
            <a:avLst/>
          </a:prstGeom>
          <a:solidFill>
            <a:schemeClr val="tx2"/>
          </a:solidFill>
          <a:ln/>
        </p:spPr>
      </p:sp>
      <p:sp>
        <p:nvSpPr>
          <p:cNvPr id="9" name="Text 7"/>
          <p:cNvSpPr txBox="1"/>
          <p:nvPr/>
        </p:nvSpPr>
        <p:spPr>
          <a:xfrm>
            <a:off x="457200" y="35661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0" name="Text 8"/>
          <p:cNvSpPr txBox="1"/>
          <p:nvPr/>
        </p:nvSpPr>
        <p:spPr>
          <a:xfrm>
            <a:off x="1097280" y="3566160"/>
            <a:ext cx="2011680" cy="502920"/>
          </a:xfrm>
          <a:prstGeom prst="rect">
            <a:avLst/>
          </a:prstGeom>
          <a:noFill/>
          <a:ln/>
        </p:spPr>
        <p:txBody>
          <a:bodyPr wrap="square" lIns="0" tIns="0" rIns="0" bIns="0" rtlCol="0" anchor="ctr"/>
          <a:lstStyle/>
          <a:p>
            <a:pPr indent="0" marL="0">
              <a:buNone/>
            </a:pPr>
            <a:r>
              <a:rPr lang="en-US" sz="1400" i="1" dirty="0">
                <a:solidFill>
                  <a:schemeClr val="accent5"/>
                </a:solidFill>
              </a:rPr>
              <a:t>[Input]</a:t>
            </a:r>
            <a:endParaRPr lang="en-US" sz="1400" dirty="0"/>
          </a:p>
        </p:txBody>
      </p:sp>
      <p:sp>
        <p:nvSpPr>
          <p:cNvPr id="11" name="Shape 9"/>
          <p:cNvSpPr/>
          <p:nvPr/>
        </p:nvSpPr>
        <p:spPr>
          <a:xfrm>
            <a:off x="3337560" y="3566160"/>
            <a:ext cx="502920" cy="502920"/>
          </a:xfrm>
          <a:prstGeom prst="ellipse">
            <a:avLst/>
          </a:prstGeom>
          <a:solidFill>
            <a:schemeClr val="tx2"/>
          </a:solidFill>
          <a:ln/>
        </p:spPr>
      </p:sp>
      <p:sp>
        <p:nvSpPr>
          <p:cNvPr id="12" name="Text 10"/>
          <p:cNvSpPr txBox="1"/>
          <p:nvPr/>
        </p:nvSpPr>
        <p:spPr>
          <a:xfrm>
            <a:off x="3337560" y="35661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1"/>
          <p:cNvSpPr txBox="1"/>
          <p:nvPr/>
        </p:nvSpPr>
        <p:spPr>
          <a:xfrm>
            <a:off x="3977640" y="3566160"/>
            <a:ext cx="2011680" cy="502920"/>
          </a:xfrm>
          <a:prstGeom prst="rect">
            <a:avLst/>
          </a:prstGeom>
          <a:noFill/>
          <a:ln/>
        </p:spPr>
        <p:txBody>
          <a:bodyPr wrap="square" lIns="0" tIns="0" rIns="0" bIns="0" rtlCol="0" anchor="ctr"/>
          <a:lstStyle/>
          <a:p>
            <a:pPr indent="0" marL="0">
              <a:buNone/>
            </a:pPr>
            <a:r>
              <a:rPr lang="en-US" sz="1400" i="1" dirty="0">
                <a:solidFill>
                  <a:schemeClr val="accent5"/>
                </a:solidFill>
              </a:rPr>
              <a:t>[What your system does]</a:t>
            </a:r>
            <a:endParaRPr lang="en-US" sz="1400" dirty="0"/>
          </a:p>
        </p:txBody>
      </p:sp>
      <p:sp>
        <p:nvSpPr>
          <p:cNvPr id="14" name="Shape 12"/>
          <p:cNvSpPr/>
          <p:nvPr/>
        </p:nvSpPr>
        <p:spPr>
          <a:xfrm>
            <a:off x="6217920" y="3566160"/>
            <a:ext cx="502920" cy="502920"/>
          </a:xfrm>
          <a:prstGeom prst="ellipse">
            <a:avLst/>
          </a:prstGeom>
          <a:solidFill>
            <a:schemeClr val="tx2"/>
          </a:solidFill>
          <a:ln/>
        </p:spPr>
      </p:sp>
      <p:sp>
        <p:nvSpPr>
          <p:cNvPr id="15" name="Text 13"/>
          <p:cNvSpPr txBox="1"/>
          <p:nvPr/>
        </p:nvSpPr>
        <p:spPr>
          <a:xfrm>
            <a:off x="6217920" y="35661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6858000" y="3566160"/>
            <a:ext cx="2011680" cy="502920"/>
          </a:xfrm>
          <a:prstGeom prst="rect">
            <a:avLst/>
          </a:prstGeom>
          <a:noFill/>
          <a:ln/>
        </p:spPr>
        <p:txBody>
          <a:bodyPr wrap="square" lIns="0" tIns="0" rIns="0" bIns="0" rtlCol="0" anchor="ctr"/>
          <a:lstStyle/>
          <a:p>
            <a:pPr indent="0" marL="0">
              <a:buNone/>
            </a:pPr>
            <a:r>
              <a:rPr lang="en-US" sz="1400" i="1" dirty="0">
                <a:solidFill>
                  <a:schemeClr val="accent5"/>
                </a:solidFill>
              </a:rPr>
              <a:t>[Output / value]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766560" cy="685800"/>
          </a:xfrm>
          <a:prstGeom prst="rect">
            <a:avLst/>
          </a:prstGeom>
          <a:noFill/>
          <a:ln/>
        </p:spPr>
        <p:txBody>
          <a:bodyPr wrap="square" lIns="0" tIns="0" rIns="0" bIns="0" rtlCol="0" anchor="ctr"/>
          <a:lstStyle/>
          <a:p>
            <a:pPr algn="l" indent="0" marL="0">
              <a:buNone/>
            </a:pPr>
            <a:r>
              <a:rPr lang="en-US" sz="2600" b="1" dirty="0">
                <a:solidFill>
                  <a:schemeClr val="tx2"/>
                </a:solidFill>
              </a:rPr>
              <a:t>[Evidence that it works]</a:t>
            </a:r>
            <a:endParaRPr lang="en-US" sz="2600" dirty="0"/>
          </a:p>
        </p:txBody>
      </p:sp>
      <p:sp>
        <p:nvSpPr>
          <p:cNvPr id="3" name="Timing chip"/>
          <p:cNvSpPr/>
          <p:nvPr/>
        </p:nvSpPr>
        <p:spPr>
          <a:xfrm>
            <a:off x="7315200" y="429768"/>
            <a:ext cx="1371600" cy="384048"/>
          </a:xfrm>
          <a:prstGeom prst="roundRect">
            <a:avLst>
              <a:gd name="adj" fmla="val 50000"/>
            </a:avLst>
          </a:prstGeom>
          <a:solidFill>
            <a:schemeClr val="bg2"/>
          </a:solidFill>
          <a:ln/>
        </p:spPr>
      </p:sp>
      <p:sp>
        <p:nvSpPr>
          <p:cNvPr id="4" name="Timing"/>
          <p:cNvSpPr txBox="1"/>
          <p:nvPr/>
        </p:nvSpPr>
        <p:spPr>
          <a:xfrm>
            <a:off x="7315200" y="429768"/>
            <a:ext cx="1371600" cy="384048"/>
          </a:xfrm>
          <a:prstGeom prst="rect">
            <a:avLst/>
          </a:prstGeom>
          <a:noFill/>
          <a:ln/>
        </p:spPr>
        <p:txBody>
          <a:bodyPr wrap="square" lIns="0" tIns="0" rIns="0" bIns="0" rtlCol="0" anchor="ctr"/>
          <a:lstStyle/>
          <a:p>
            <a:pPr algn="ctr" indent="0" marL="0">
              <a:buNone/>
            </a:pPr>
            <a:r>
              <a:rPr lang="en-US" sz="1300" b="1" dirty="0">
                <a:solidFill>
                  <a:schemeClr val="tx2"/>
                </a:solidFill>
              </a:rPr>
              <a:t>20 s</a:t>
            </a:r>
            <a:endParaRPr lang="en-US" sz="1300" dirty="0"/>
          </a:p>
        </p:txBody>
      </p:sp>
      <p:sp>
        <p:nvSpPr>
          <p:cNvPr id="5" name="Section label"/>
          <p:cNvSpPr txBox="1"/>
          <p:nvPr/>
        </p:nvSpPr>
        <p:spPr>
          <a:xfrm>
            <a:off x="457200" y="109728"/>
            <a:ext cx="4572000" cy="256032"/>
          </a:xfrm>
          <a:prstGeom prst="rect">
            <a:avLst/>
          </a:prstGeom>
          <a:noFill/>
          <a:ln/>
        </p:spPr>
        <p:txBody>
          <a:bodyPr wrap="square" lIns="0" tIns="0" rIns="0" bIns="0" rtlCol="0" anchor="ctr"/>
          <a:lstStyle/>
          <a:p>
            <a:pPr indent="0" marL="0">
              <a:buNone/>
            </a:pPr>
            <a:r>
              <a:rPr lang="en-US" sz="1100" b="1" spc="100" kern="0" dirty="0">
                <a:solidFill>
                  <a:schemeClr val="accent2"/>
                </a:solidFill>
                <a:latin typeface="+mj-lt" pitchFamily="34" charset="0"/>
                <a:ea typeface="+mj-lt" pitchFamily="34" charset="-122"/>
                <a:cs typeface="+mj-lt" pitchFamily="34" charset="-120"/>
              </a:rPr>
              <a:t>06 · PROOF / VALIDATION</a:t>
            </a:r>
            <a:endParaRPr lang="en-US" sz="1100" dirty="0"/>
          </a:p>
        </p:txBody>
      </p:sp>
      <p:sp>
        <p:nvSpPr>
          <p:cNvPr id="6" name="Stat card"/>
          <p:cNvSpPr/>
          <p:nvPr/>
        </p:nvSpPr>
        <p:spPr>
          <a:xfrm>
            <a:off x="457200" y="1280160"/>
            <a:ext cx="2560320" cy="1828800"/>
          </a:xfrm>
          <a:prstGeom prst="roundRect">
            <a:avLst>
              <a:gd name="adj" fmla="val 4000"/>
            </a:avLst>
          </a:prstGeom>
          <a:solidFill>
            <a:schemeClr val="bg2"/>
          </a:solidFill>
          <a:ln/>
        </p:spPr>
      </p:sp>
      <p:sp>
        <p:nvSpPr>
          <p:cNvPr id="7" name="Text 5"/>
          <p:cNvSpPr txBox="1"/>
          <p:nvPr/>
        </p:nvSpPr>
        <p:spPr>
          <a:xfrm>
            <a:off x="685800" y="1417320"/>
            <a:ext cx="2103120" cy="914400"/>
          </a:xfrm>
          <a:prstGeom prst="rect">
            <a:avLst/>
          </a:prstGeom>
          <a:noFill/>
          <a:ln/>
        </p:spPr>
        <p:txBody>
          <a:bodyPr wrap="square" lIns="0" tIns="0" rIns="0" bIns="0" rtlCol="0" anchor="ctr"/>
          <a:lstStyle/>
          <a:p>
            <a:pPr indent="0" marL="0">
              <a:buNone/>
            </a:pPr>
            <a:r>
              <a:rPr lang="en-US" sz="4400" b="1" dirty="0">
                <a:solidFill>
                  <a:srgbClr val="314F65"/>
                </a:solidFill>
                <a:latin typeface="+mj-lt" pitchFamily="34" charset="0"/>
                <a:ea typeface="+mj-lt" pitchFamily="34" charset="-122"/>
                <a:cs typeface="+mj-lt" pitchFamily="34" charset="-120"/>
              </a:rPr>
              <a:t>[00%]</a:t>
            </a:r>
            <a:endParaRPr lang="en-US" sz="4400" dirty="0"/>
          </a:p>
        </p:txBody>
      </p:sp>
      <p:sp>
        <p:nvSpPr>
          <p:cNvPr id="8" name="Text 6"/>
          <p:cNvSpPr txBox="1"/>
          <p:nvPr/>
        </p:nvSpPr>
        <p:spPr>
          <a:xfrm>
            <a:off x="685800" y="2377440"/>
            <a:ext cx="2103120" cy="548640"/>
          </a:xfrm>
          <a:prstGeom prst="rect">
            <a:avLst/>
          </a:prstGeom>
          <a:noFill/>
          <a:ln/>
        </p:spPr>
        <p:txBody>
          <a:bodyPr wrap="square" lIns="0" tIns="0" rIns="0" bIns="0" rtlCol="0" anchor="t"/>
          <a:lstStyle/>
          <a:p>
            <a:pPr indent="0" marL="0">
              <a:buNone/>
            </a:pPr>
            <a:r>
              <a:rPr lang="en-US" sz="1300" i="1" dirty="0">
                <a:solidFill>
                  <a:schemeClr val="accent5"/>
                </a:solidFill>
              </a:rPr>
              <a:t>[Key lab result]</a:t>
            </a:r>
            <a:endParaRPr lang="en-US" sz="1300" dirty="0"/>
          </a:p>
        </p:txBody>
      </p:sp>
      <p:sp>
        <p:nvSpPr>
          <p:cNvPr id="9" name="Stat card"/>
          <p:cNvSpPr/>
          <p:nvPr/>
        </p:nvSpPr>
        <p:spPr>
          <a:xfrm>
            <a:off x="3291840" y="1280160"/>
            <a:ext cx="2560320" cy="1828800"/>
          </a:xfrm>
          <a:prstGeom prst="roundRect">
            <a:avLst>
              <a:gd name="adj" fmla="val 4000"/>
            </a:avLst>
          </a:prstGeom>
          <a:solidFill>
            <a:schemeClr val="bg2"/>
          </a:solidFill>
          <a:ln/>
        </p:spPr>
      </p:sp>
      <p:sp>
        <p:nvSpPr>
          <p:cNvPr id="10" name="Text 8"/>
          <p:cNvSpPr txBox="1"/>
          <p:nvPr/>
        </p:nvSpPr>
        <p:spPr>
          <a:xfrm>
            <a:off x="3520440" y="1417320"/>
            <a:ext cx="2103120" cy="914400"/>
          </a:xfrm>
          <a:prstGeom prst="rect">
            <a:avLst/>
          </a:prstGeom>
          <a:noFill/>
          <a:ln/>
        </p:spPr>
        <p:txBody>
          <a:bodyPr wrap="square" lIns="0" tIns="0" rIns="0" bIns="0" rtlCol="0" anchor="ctr"/>
          <a:lstStyle/>
          <a:p>
            <a:pPr indent="0" marL="0">
              <a:buNone/>
            </a:pPr>
            <a:r>
              <a:rPr lang="en-US" sz="4400" b="1" dirty="0">
                <a:solidFill>
                  <a:srgbClr val="314F65"/>
                </a:solidFill>
                <a:latin typeface="+mj-lt" pitchFamily="34" charset="0"/>
                <a:ea typeface="+mj-lt" pitchFamily="34" charset="-122"/>
                <a:cs typeface="+mj-lt" pitchFamily="34" charset="-120"/>
              </a:rPr>
              <a:t>[00%]</a:t>
            </a:r>
            <a:endParaRPr lang="en-US" sz="4400" dirty="0"/>
          </a:p>
        </p:txBody>
      </p:sp>
      <p:sp>
        <p:nvSpPr>
          <p:cNvPr id="11" name="Text 9"/>
          <p:cNvSpPr txBox="1"/>
          <p:nvPr/>
        </p:nvSpPr>
        <p:spPr>
          <a:xfrm>
            <a:off x="3520440" y="2377440"/>
            <a:ext cx="2103120" cy="548640"/>
          </a:xfrm>
          <a:prstGeom prst="rect">
            <a:avLst/>
          </a:prstGeom>
          <a:noFill/>
          <a:ln/>
        </p:spPr>
        <p:txBody>
          <a:bodyPr wrap="square" lIns="0" tIns="0" rIns="0" bIns="0" rtlCol="0" anchor="t"/>
          <a:lstStyle/>
          <a:p>
            <a:pPr indent="0" marL="0">
              <a:buNone/>
            </a:pPr>
            <a:r>
              <a:rPr lang="en-US" sz="1300" i="1" dirty="0">
                <a:solidFill>
                  <a:schemeClr val="accent5"/>
                </a:solidFill>
              </a:rPr>
              <a:t>[Second key result]</a:t>
            </a:r>
            <a:endParaRPr lang="en-US" sz="1300" dirty="0"/>
          </a:p>
        </p:txBody>
      </p:sp>
      <p:sp>
        <p:nvSpPr>
          <p:cNvPr id="12" name="Stat card"/>
          <p:cNvSpPr/>
          <p:nvPr/>
        </p:nvSpPr>
        <p:spPr>
          <a:xfrm>
            <a:off x="6126480" y="1280160"/>
            <a:ext cx="2560320" cy="1828800"/>
          </a:xfrm>
          <a:prstGeom prst="roundRect">
            <a:avLst>
              <a:gd name="adj" fmla="val 4000"/>
            </a:avLst>
          </a:prstGeom>
          <a:solidFill>
            <a:schemeClr val="bg2"/>
          </a:solidFill>
          <a:ln/>
        </p:spPr>
      </p:sp>
      <p:sp>
        <p:nvSpPr>
          <p:cNvPr id="13" name="Text 11"/>
          <p:cNvSpPr txBox="1"/>
          <p:nvPr/>
        </p:nvSpPr>
        <p:spPr>
          <a:xfrm>
            <a:off x="6355080" y="1417320"/>
            <a:ext cx="2103120" cy="914400"/>
          </a:xfrm>
          <a:prstGeom prst="rect">
            <a:avLst/>
          </a:prstGeom>
          <a:noFill/>
          <a:ln/>
        </p:spPr>
        <p:txBody>
          <a:bodyPr wrap="square" lIns="0" tIns="0" rIns="0" bIns="0" rtlCol="0" anchor="ctr"/>
          <a:lstStyle/>
          <a:p>
            <a:pPr indent="0" marL="0">
              <a:buNone/>
            </a:pPr>
            <a:r>
              <a:rPr lang="en-US" sz="4400" b="1" dirty="0">
                <a:solidFill>
                  <a:srgbClr val="314F65"/>
                </a:solidFill>
                <a:latin typeface="+mj-lt" pitchFamily="34" charset="0"/>
                <a:ea typeface="+mj-lt" pitchFamily="34" charset="-122"/>
                <a:cs typeface="+mj-lt" pitchFamily="34" charset="-120"/>
              </a:rPr>
              <a:t>[00%]</a:t>
            </a:r>
            <a:endParaRPr lang="en-US" sz="4400" dirty="0"/>
          </a:p>
        </p:txBody>
      </p:sp>
      <p:sp>
        <p:nvSpPr>
          <p:cNvPr id="14" name="Text 12"/>
          <p:cNvSpPr txBox="1"/>
          <p:nvPr/>
        </p:nvSpPr>
        <p:spPr>
          <a:xfrm>
            <a:off x="6355080" y="2377440"/>
            <a:ext cx="2103120" cy="548640"/>
          </a:xfrm>
          <a:prstGeom prst="rect">
            <a:avLst/>
          </a:prstGeom>
          <a:noFill/>
          <a:ln/>
        </p:spPr>
        <p:txBody>
          <a:bodyPr wrap="square" lIns="0" tIns="0" rIns="0" bIns="0" rtlCol="0" anchor="t"/>
          <a:lstStyle/>
          <a:p>
            <a:pPr indent="0" marL="0">
              <a:buNone/>
            </a:pPr>
            <a:r>
              <a:rPr lang="en-US" sz="1300" i="1" dirty="0">
                <a:solidFill>
                  <a:schemeClr val="accent5"/>
                </a:solidFill>
              </a:rPr>
              <a:t>[Users interviewed / pilots]</a:t>
            </a:r>
            <a:endParaRPr lang="en-US" sz="1300" dirty="0"/>
          </a:p>
        </p:txBody>
      </p:sp>
      <p:sp>
        <p:nvSpPr>
          <p:cNvPr id="15" name="Icon circle"/>
          <p:cNvSpPr/>
          <p:nvPr/>
        </p:nvSpPr>
        <p:spPr>
          <a:xfrm>
            <a:off x="457200" y="3429000"/>
            <a:ext cx="640080" cy="640080"/>
          </a:xfrm>
          <a:prstGeom prst="ellipse">
            <a:avLst/>
          </a:prstGeom>
          <a:solidFill>
            <a:schemeClr val="accent2"/>
          </a:solidFill>
          <a:ln/>
        </p:spPr>
      </p:sp>
      <p:pic>
        <p:nvPicPr>
          <p:cNvPr id="16" name="Image 0" descr="icon">    </p:cNvPr>
          <p:cNvPicPr>
            <a:picLocks noChangeAspect="1"/>
          </p:cNvPicPr>
          <p:nvPr/>
        </p:nvPicPr>
        <p:blipFill>
          <a:blip r:embed="rId1"/>
          <a:stretch>
            <a:fillRect/>
          </a:stretch>
        </p:blipFill>
        <p:spPr>
          <a:xfrm>
            <a:off x="617220" y="3589020"/>
            <a:ext cx="320040" cy="320040"/>
          </a:xfrm>
          <a:prstGeom prst="rect">
            <a:avLst/>
          </a:prstGeom>
        </p:spPr>
      </p:pic>
      <p:sp>
        <p:nvSpPr>
          <p:cNvPr id="17" name="Customer feedback"/>
          <p:cNvSpPr txBox="1"/>
          <p:nvPr/>
        </p:nvSpPr>
        <p:spPr>
          <a:xfrm>
            <a:off x="1280160" y="3383280"/>
            <a:ext cx="7406640" cy="731520"/>
          </a:xfrm>
          <a:prstGeom prst="rect">
            <a:avLst/>
          </a:prstGeom>
          <a:noFill/>
          <a:ln/>
        </p:spPr>
        <p:txBody>
          <a:bodyPr wrap="square" lIns="0" tIns="0" rIns="0" bIns="0" rtlCol="0" anchor="ctr"/>
          <a:lstStyle/>
          <a:p>
            <a:pPr indent="0" marL="0">
              <a:buNone/>
            </a:pPr>
            <a:r>
              <a:rPr lang="en-US" sz="1500" i="1" dirty="0">
                <a:solidFill>
                  <a:schemeClr val="accent5"/>
                </a:solidFill>
              </a:rPr>
              <a:t>“[Feedback from a potential customer or expert]” — [Role, organisation]</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766560" cy="685800"/>
          </a:xfrm>
          <a:prstGeom prst="rect">
            <a:avLst/>
          </a:prstGeom>
          <a:noFill/>
          <a:ln/>
        </p:spPr>
        <p:txBody>
          <a:bodyPr wrap="square" lIns="0" tIns="0" rIns="0" bIns="0" rtlCol="0" anchor="ctr"/>
          <a:lstStyle/>
          <a:p>
            <a:pPr algn="l" indent="0" marL="0">
              <a:buNone/>
            </a:pPr>
            <a:r>
              <a:rPr lang="en-US" sz="2600" b="1" dirty="0">
                <a:solidFill>
                  <a:schemeClr val="tx2"/>
                </a:solidFill>
              </a:rPr>
              <a:t>[Where you start and how big it is]</a:t>
            </a:r>
            <a:endParaRPr lang="en-US" sz="2600" dirty="0"/>
          </a:p>
        </p:txBody>
      </p:sp>
      <p:sp>
        <p:nvSpPr>
          <p:cNvPr id="3" name="Timing chip"/>
          <p:cNvSpPr/>
          <p:nvPr/>
        </p:nvSpPr>
        <p:spPr>
          <a:xfrm>
            <a:off x="7315200" y="429768"/>
            <a:ext cx="1371600" cy="384048"/>
          </a:xfrm>
          <a:prstGeom prst="roundRect">
            <a:avLst>
              <a:gd name="adj" fmla="val 50000"/>
            </a:avLst>
          </a:prstGeom>
          <a:solidFill>
            <a:schemeClr val="bg2"/>
          </a:solidFill>
          <a:ln/>
        </p:spPr>
      </p:sp>
      <p:sp>
        <p:nvSpPr>
          <p:cNvPr id="4" name="Timing"/>
          <p:cNvSpPr txBox="1"/>
          <p:nvPr/>
        </p:nvSpPr>
        <p:spPr>
          <a:xfrm>
            <a:off x="7315200" y="429768"/>
            <a:ext cx="1371600" cy="384048"/>
          </a:xfrm>
          <a:prstGeom prst="rect">
            <a:avLst/>
          </a:prstGeom>
          <a:noFill/>
          <a:ln/>
        </p:spPr>
        <p:txBody>
          <a:bodyPr wrap="square" lIns="0" tIns="0" rIns="0" bIns="0" rtlCol="0" anchor="ctr"/>
          <a:lstStyle/>
          <a:p>
            <a:pPr algn="ctr" indent="0" marL="0">
              <a:buNone/>
            </a:pPr>
            <a:r>
              <a:rPr lang="en-US" sz="1300" b="1" dirty="0">
                <a:solidFill>
                  <a:schemeClr val="tx2"/>
                </a:solidFill>
              </a:rPr>
              <a:t>15 s</a:t>
            </a:r>
            <a:endParaRPr lang="en-US" sz="1300" dirty="0"/>
          </a:p>
        </p:txBody>
      </p:sp>
      <p:sp>
        <p:nvSpPr>
          <p:cNvPr id="5" name="Section label"/>
          <p:cNvSpPr txBox="1"/>
          <p:nvPr/>
        </p:nvSpPr>
        <p:spPr>
          <a:xfrm>
            <a:off x="457200" y="109728"/>
            <a:ext cx="4572000" cy="256032"/>
          </a:xfrm>
          <a:prstGeom prst="rect">
            <a:avLst/>
          </a:prstGeom>
          <a:noFill/>
          <a:ln/>
        </p:spPr>
        <p:txBody>
          <a:bodyPr wrap="square" lIns="0" tIns="0" rIns="0" bIns="0" rtlCol="0" anchor="ctr"/>
          <a:lstStyle/>
          <a:p>
            <a:pPr indent="0" marL="0">
              <a:buNone/>
            </a:pPr>
            <a:r>
              <a:rPr lang="en-US" sz="1100" b="1" spc="100" kern="0" dirty="0">
                <a:solidFill>
                  <a:schemeClr val="accent2"/>
                </a:solidFill>
                <a:latin typeface="+mj-lt" pitchFamily="34" charset="0"/>
                <a:ea typeface="+mj-lt" pitchFamily="34" charset="-122"/>
                <a:cs typeface="+mj-lt" pitchFamily="34" charset="-120"/>
              </a:rPr>
              <a:t>07 · MARKET &amp; BEACHHEAD</a:t>
            </a:r>
            <a:endParaRPr lang="en-US" sz="1100" dirty="0"/>
          </a:p>
        </p:txBody>
      </p:sp>
      <p:sp>
        <p:nvSpPr>
          <p:cNvPr id="6" name="Market circle"/>
          <p:cNvSpPr/>
          <p:nvPr/>
        </p:nvSpPr>
        <p:spPr>
          <a:xfrm>
            <a:off x="822960" y="1325880"/>
            <a:ext cx="3108960" cy="3108960"/>
          </a:xfrm>
          <a:prstGeom prst="ellipse">
            <a:avLst/>
          </a:prstGeom>
          <a:solidFill>
            <a:schemeClr val="accent6"/>
          </a:solidFill>
          <a:ln/>
        </p:spPr>
      </p:sp>
      <p:sp>
        <p:nvSpPr>
          <p:cNvPr id="7" name="Market circle"/>
          <p:cNvSpPr/>
          <p:nvPr/>
        </p:nvSpPr>
        <p:spPr>
          <a:xfrm>
            <a:off x="1280160" y="1783080"/>
            <a:ext cx="2194560" cy="2194560"/>
          </a:xfrm>
          <a:prstGeom prst="ellipse">
            <a:avLst/>
          </a:prstGeom>
          <a:solidFill>
            <a:schemeClr val="accent4"/>
          </a:solidFill>
          <a:ln/>
        </p:spPr>
      </p:sp>
      <p:sp>
        <p:nvSpPr>
          <p:cNvPr id="8" name="Market circle"/>
          <p:cNvSpPr/>
          <p:nvPr/>
        </p:nvSpPr>
        <p:spPr>
          <a:xfrm>
            <a:off x="1760220" y="2263140"/>
            <a:ext cx="1234440" cy="1234440"/>
          </a:xfrm>
          <a:prstGeom prst="ellipse">
            <a:avLst/>
          </a:prstGeom>
          <a:solidFill>
            <a:schemeClr val="tx2"/>
          </a:solidFill>
          <a:ln/>
        </p:spPr>
      </p:sp>
      <p:sp>
        <p:nvSpPr>
          <p:cNvPr id="9" name="Text 7"/>
          <p:cNvSpPr txBox="1"/>
          <p:nvPr/>
        </p:nvSpPr>
        <p:spPr>
          <a:xfrm>
            <a:off x="1737360" y="2697480"/>
            <a:ext cx="128016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mj-lt" pitchFamily="34" charset="0"/>
                <a:ea typeface="+mj-lt" pitchFamily="34" charset="-122"/>
                <a:cs typeface="+mj-lt" pitchFamily="34" charset="-120"/>
              </a:rPr>
              <a:t>Beachhead</a:t>
            </a:r>
            <a:endParaRPr lang="en-US" sz="1300" dirty="0"/>
          </a:p>
        </p:txBody>
      </p:sp>
      <p:sp>
        <p:nvSpPr>
          <p:cNvPr id="10" name="Shape 8"/>
          <p:cNvSpPr/>
          <p:nvPr/>
        </p:nvSpPr>
        <p:spPr>
          <a:xfrm>
            <a:off x="4572000" y="1536192"/>
            <a:ext cx="274320" cy="274320"/>
          </a:xfrm>
          <a:prstGeom prst="ellipse">
            <a:avLst/>
          </a:prstGeom>
          <a:solidFill>
            <a:schemeClr val="accent6"/>
          </a:solidFill>
          <a:ln w="6350">
            <a:solidFill>
              <a:srgbClr val="5E7A8F"/>
            </a:solidFill>
            <a:prstDash val="solid"/>
          </a:ln>
        </p:spPr>
      </p:sp>
      <p:sp>
        <p:nvSpPr>
          <p:cNvPr id="11" name="Text 9"/>
          <p:cNvSpPr txBox="1"/>
          <p:nvPr/>
        </p:nvSpPr>
        <p:spPr>
          <a:xfrm>
            <a:off x="5029200" y="1463040"/>
            <a:ext cx="3657600" cy="777240"/>
          </a:xfrm>
          <a:prstGeom prst="rect">
            <a:avLst/>
          </a:prstGeom>
          <a:noFill/>
          <a:ln/>
        </p:spPr>
        <p:txBody>
          <a:bodyPr wrap="square" lIns="0" tIns="0" rIns="0" bIns="0" rtlCol="0" anchor="t"/>
          <a:lstStyle/>
          <a:p>
            <a:pPr indent="0" marL="0">
              <a:buNone/>
            </a:pPr>
            <a:r>
              <a:rPr lang="en-US" sz="1400" b="1" dirty="0">
                <a:solidFill>
                  <a:srgbClr val="314F65"/>
                </a:solidFill>
              </a:rPr>
              <a:t>Total market</a:t>
            </a:r>
            <a:endParaRPr lang="en-US" sz="1400" dirty="0"/>
          </a:p>
          <a:p>
            <a:pPr indent="0" marL="0">
              <a:buNone/>
            </a:pPr>
            <a:r>
              <a:rPr lang="en-US" sz="1400" i="1" dirty="0">
                <a:solidFill>
                  <a:schemeClr val="accent5"/>
                </a:solidFill>
              </a:rPr>
              <a:t>[Size and units]</a:t>
            </a:r>
            <a:endParaRPr lang="en-US" sz="1400" dirty="0"/>
          </a:p>
        </p:txBody>
      </p:sp>
      <p:sp>
        <p:nvSpPr>
          <p:cNvPr id="12" name="Shape 10"/>
          <p:cNvSpPr/>
          <p:nvPr/>
        </p:nvSpPr>
        <p:spPr>
          <a:xfrm>
            <a:off x="4572000" y="2496312"/>
            <a:ext cx="274320" cy="274320"/>
          </a:xfrm>
          <a:prstGeom prst="ellipse">
            <a:avLst/>
          </a:prstGeom>
          <a:solidFill>
            <a:schemeClr val="accent4"/>
          </a:solidFill>
          <a:ln w="6350">
            <a:solidFill>
              <a:srgbClr val="5E7A8F"/>
            </a:solidFill>
            <a:prstDash val="solid"/>
          </a:ln>
        </p:spPr>
      </p:sp>
      <p:sp>
        <p:nvSpPr>
          <p:cNvPr id="13" name="Text 11"/>
          <p:cNvSpPr txBox="1"/>
          <p:nvPr/>
        </p:nvSpPr>
        <p:spPr>
          <a:xfrm>
            <a:off x="5029200" y="2423160"/>
            <a:ext cx="3657600" cy="777240"/>
          </a:xfrm>
          <a:prstGeom prst="rect">
            <a:avLst/>
          </a:prstGeom>
          <a:noFill/>
          <a:ln/>
        </p:spPr>
        <p:txBody>
          <a:bodyPr wrap="square" lIns="0" tIns="0" rIns="0" bIns="0" rtlCol="0" anchor="t"/>
          <a:lstStyle/>
          <a:p>
            <a:pPr indent="0" marL="0">
              <a:buNone/>
            </a:pPr>
            <a:r>
              <a:rPr lang="en-US" sz="1400" b="1" dirty="0">
                <a:solidFill>
                  <a:srgbClr val="314F65"/>
                </a:solidFill>
              </a:rPr>
              <a:t>Reachable market</a:t>
            </a:r>
            <a:endParaRPr lang="en-US" sz="1400" dirty="0"/>
          </a:p>
          <a:p>
            <a:pPr indent="0" marL="0">
              <a:buNone/>
            </a:pPr>
            <a:r>
              <a:rPr lang="en-US" sz="1400" i="1" dirty="0">
                <a:solidFill>
                  <a:schemeClr val="accent5"/>
                </a:solidFill>
              </a:rPr>
              <a:t>[Size you can realistically serve]</a:t>
            </a:r>
            <a:endParaRPr lang="en-US" sz="1400" dirty="0"/>
          </a:p>
        </p:txBody>
      </p:sp>
      <p:sp>
        <p:nvSpPr>
          <p:cNvPr id="14" name="Shape 12"/>
          <p:cNvSpPr/>
          <p:nvPr/>
        </p:nvSpPr>
        <p:spPr>
          <a:xfrm>
            <a:off x="4572000" y="3456432"/>
            <a:ext cx="274320" cy="274320"/>
          </a:xfrm>
          <a:prstGeom prst="ellipse">
            <a:avLst/>
          </a:prstGeom>
          <a:solidFill>
            <a:schemeClr val="tx2"/>
          </a:solidFill>
          <a:ln w="6350">
            <a:solidFill>
              <a:srgbClr val="5E7A8F"/>
            </a:solidFill>
            <a:prstDash val="solid"/>
          </a:ln>
        </p:spPr>
      </p:sp>
      <p:sp>
        <p:nvSpPr>
          <p:cNvPr id="15" name="Text 13"/>
          <p:cNvSpPr txBox="1"/>
          <p:nvPr/>
        </p:nvSpPr>
        <p:spPr>
          <a:xfrm>
            <a:off x="5029200" y="3383280"/>
            <a:ext cx="3657600" cy="777240"/>
          </a:xfrm>
          <a:prstGeom prst="rect">
            <a:avLst/>
          </a:prstGeom>
          <a:noFill/>
          <a:ln/>
        </p:spPr>
        <p:txBody>
          <a:bodyPr wrap="square" lIns="0" tIns="0" rIns="0" bIns="0" rtlCol="0" anchor="t"/>
          <a:lstStyle/>
          <a:p>
            <a:pPr indent="0" marL="0">
              <a:buNone/>
            </a:pPr>
            <a:r>
              <a:rPr lang="en-US" sz="1400" b="1" dirty="0">
                <a:solidFill>
                  <a:srgbClr val="314F65"/>
                </a:solidFill>
              </a:rPr>
              <a:t>Beachhead segment</a:t>
            </a:r>
            <a:endParaRPr lang="en-US" sz="1400" dirty="0"/>
          </a:p>
          <a:p>
            <a:pPr indent="0" marL="0">
              <a:buNone/>
            </a:pPr>
            <a:r>
              <a:rPr lang="en-US" sz="1400" i="1" dirty="0">
                <a:solidFill>
                  <a:schemeClr val="accent5"/>
                </a:solidFill>
              </a:rPr>
              <a:t>[First customers and why them]</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766560" cy="685800"/>
          </a:xfrm>
          <a:prstGeom prst="rect">
            <a:avLst/>
          </a:prstGeom>
          <a:noFill/>
          <a:ln/>
        </p:spPr>
        <p:txBody>
          <a:bodyPr wrap="square" lIns="0" tIns="0" rIns="0" bIns="0" rtlCol="0" anchor="ctr"/>
          <a:lstStyle/>
          <a:p>
            <a:pPr algn="l" indent="0" marL="0">
              <a:buNone/>
            </a:pPr>
            <a:r>
              <a:rPr lang="en-US" sz="2600" b="1" dirty="0">
                <a:solidFill>
                  <a:schemeClr val="tx2"/>
                </a:solidFill>
              </a:rPr>
              <a:t>[How the project makes money]</a:t>
            </a:r>
            <a:endParaRPr lang="en-US" sz="2600" dirty="0"/>
          </a:p>
        </p:txBody>
      </p:sp>
      <p:sp>
        <p:nvSpPr>
          <p:cNvPr id="3" name="Timing chip"/>
          <p:cNvSpPr/>
          <p:nvPr/>
        </p:nvSpPr>
        <p:spPr>
          <a:xfrm>
            <a:off x="7315200" y="429768"/>
            <a:ext cx="1371600" cy="384048"/>
          </a:xfrm>
          <a:prstGeom prst="roundRect">
            <a:avLst>
              <a:gd name="adj" fmla="val 50000"/>
            </a:avLst>
          </a:prstGeom>
          <a:solidFill>
            <a:schemeClr val="bg2"/>
          </a:solidFill>
          <a:ln/>
        </p:spPr>
      </p:sp>
      <p:sp>
        <p:nvSpPr>
          <p:cNvPr id="4" name="Timing"/>
          <p:cNvSpPr txBox="1"/>
          <p:nvPr/>
        </p:nvSpPr>
        <p:spPr>
          <a:xfrm>
            <a:off x="7315200" y="429768"/>
            <a:ext cx="1371600" cy="384048"/>
          </a:xfrm>
          <a:prstGeom prst="rect">
            <a:avLst/>
          </a:prstGeom>
          <a:noFill/>
          <a:ln/>
        </p:spPr>
        <p:txBody>
          <a:bodyPr wrap="square" lIns="0" tIns="0" rIns="0" bIns="0" rtlCol="0" anchor="ctr"/>
          <a:lstStyle/>
          <a:p>
            <a:pPr algn="ctr" indent="0" marL="0">
              <a:buNone/>
            </a:pPr>
            <a:r>
              <a:rPr lang="en-US" sz="1300" b="1" dirty="0">
                <a:solidFill>
                  <a:schemeClr val="tx2"/>
                </a:solidFill>
              </a:rPr>
              <a:t>15 s</a:t>
            </a:r>
            <a:endParaRPr lang="en-US" sz="1300" dirty="0"/>
          </a:p>
        </p:txBody>
      </p:sp>
      <p:sp>
        <p:nvSpPr>
          <p:cNvPr id="5" name="Section label"/>
          <p:cNvSpPr txBox="1"/>
          <p:nvPr/>
        </p:nvSpPr>
        <p:spPr>
          <a:xfrm>
            <a:off x="457200" y="109728"/>
            <a:ext cx="4572000" cy="256032"/>
          </a:xfrm>
          <a:prstGeom prst="rect">
            <a:avLst/>
          </a:prstGeom>
          <a:noFill/>
          <a:ln/>
        </p:spPr>
        <p:txBody>
          <a:bodyPr wrap="square" lIns="0" tIns="0" rIns="0" bIns="0" rtlCol="0" anchor="ctr"/>
          <a:lstStyle/>
          <a:p>
            <a:pPr indent="0" marL="0">
              <a:buNone/>
            </a:pPr>
            <a:r>
              <a:rPr lang="en-US" sz="1100" b="1" spc="100" kern="0" dirty="0">
                <a:solidFill>
                  <a:schemeClr val="accent2"/>
                </a:solidFill>
                <a:latin typeface="+mj-lt" pitchFamily="34" charset="0"/>
                <a:ea typeface="+mj-lt" pitchFamily="34" charset="-122"/>
                <a:cs typeface="+mj-lt" pitchFamily="34" charset="-120"/>
              </a:rPr>
              <a:t>08 · BUSINESS MODEL</a:t>
            </a:r>
            <a:endParaRPr lang="en-US" sz="1100" dirty="0"/>
          </a:p>
        </p:txBody>
      </p:sp>
      <p:sp>
        <p:nvSpPr>
          <p:cNvPr id="6" name="Model card"/>
          <p:cNvSpPr/>
          <p:nvPr/>
        </p:nvSpPr>
        <p:spPr>
          <a:xfrm>
            <a:off x="457200" y="1371600"/>
            <a:ext cx="2514600" cy="2286000"/>
          </a:xfrm>
          <a:prstGeom prst="roundRect">
            <a:avLst>
              <a:gd name="adj" fmla="val 3200"/>
            </a:avLst>
          </a:prstGeom>
          <a:solidFill>
            <a:schemeClr val="bg2"/>
          </a:solidFill>
          <a:ln/>
        </p:spPr>
      </p:sp>
      <p:sp>
        <p:nvSpPr>
          <p:cNvPr id="7" name="Icon circle"/>
          <p:cNvSpPr/>
          <p:nvPr/>
        </p:nvSpPr>
        <p:spPr>
          <a:xfrm>
            <a:off x="1344168" y="1600200"/>
            <a:ext cx="731520" cy="731520"/>
          </a:xfrm>
          <a:prstGeom prst="ellipse">
            <a:avLst/>
          </a:prstGeom>
          <a:solidFill>
            <a:schemeClr val="tx2"/>
          </a:solidFill>
          <a:ln/>
        </p:spPr>
      </p:sp>
      <p:pic>
        <p:nvPicPr>
          <p:cNvPr id="8" name="Image 0" descr="icon">    </p:cNvPr>
          <p:cNvPicPr>
            <a:picLocks noChangeAspect="1"/>
          </p:cNvPicPr>
          <p:nvPr/>
        </p:nvPicPr>
        <p:blipFill>
          <a:blip r:embed="rId1"/>
          <a:stretch>
            <a:fillRect/>
          </a:stretch>
        </p:blipFill>
        <p:spPr>
          <a:xfrm>
            <a:off x="1527048" y="1783080"/>
            <a:ext cx="365760" cy="365760"/>
          </a:xfrm>
          <a:prstGeom prst="rect">
            <a:avLst/>
          </a:prstGeom>
        </p:spPr>
      </p:pic>
      <p:sp>
        <p:nvSpPr>
          <p:cNvPr id="9" name="Text 6"/>
          <p:cNvSpPr txBox="1"/>
          <p:nvPr/>
        </p:nvSpPr>
        <p:spPr>
          <a:xfrm>
            <a:off x="640080" y="2468880"/>
            <a:ext cx="2148840" cy="365760"/>
          </a:xfrm>
          <a:prstGeom prst="rect">
            <a:avLst/>
          </a:prstGeom>
          <a:noFill/>
          <a:ln/>
        </p:spPr>
        <p:txBody>
          <a:bodyPr wrap="square" lIns="0" tIns="0" rIns="0" bIns="0" rtlCol="0" anchor="ctr"/>
          <a:lstStyle/>
          <a:p>
            <a:pPr algn="ctr" indent="0" marL="0">
              <a:buNone/>
            </a:pPr>
            <a:r>
              <a:rPr lang="en-US" sz="1800" b="1" dirty="0">
                <a:solidFill>
                  <a:schemeClr val="tx2"/>
                </a:solidFill>
                <a:latin typeface="+mj-lt" pitchFamily="34" charset="0"/>
                <a:ea typeface="+mj-lt" pitchFamily="34" charset="-122"/>
                <a:cs typeface="+mj-lt" pitchFamily="34" charset="-120"/>
              </a:rPr>
              <a:t>Who pays</a:t>
            </a:r>
            <a:endParaRPr lang="en-US" sz="1800" dirty="0"/>
          </a:p>
        </p:txBody>
      </p:sp>
      <p:sp>
        <p:nvSpPr>
          <p:cNvPr id="10" name="Text 7"/>
          <p:cNvSpPr txBox="1"/>
          <p:nvPr/>
        </p:nvSpPr>
        <p:spPr>
          <a:xfrm>
            <a:off x="640080" y="2880360"/>
            <a:ext cx="2148840" cy="640080"/>
          </a:xfrm>
          <a:prstGeom prst="rect">
            <a:avLst/>
          </a:prstGeom>
          <a:noFill/>
          <a:ln/>
        </p:spPr>
        <p:txBody>
          <a:bodyPr wrap="square" lIns="0" tIns="0" rIns="0" bIns="0" rtlCol="0" anchor="t"/>
          <a:lstStyle/>
          <a:p>
            <a:pPr algn="ctr" indent="0" marL="0">
              <a:buNone/>
            </a:pPr>
            <a:r>
              <a:rPr lang="en-US" sz="1400" i="1" dirty="0">
                <a:solidFill>
                  <a:schemeClr val="accent5"/>
                </a:solidFill>
              </a:rPr>
              <a:t>[Customer segment that pays]</a:t>
            </a:r>
            <a:endParaRPr lang="en-US" sz="1400" dirty="0"/>
          </a:p>
        </p:txBody>
      </p:sp>
      <p:sp>
        <p:nvSpPr>
          <p:cNvPr id="11" name="Text 8"/>
          <p:cNvSpPr txBox="1"/>
          <p:nvPr/>
        </p:nvSpPr>
        <p:spPr>
          <a:xfrm>
            <a:off x="2971800" y="2286000"/>
            <a:ext cx="365760" cy="457200"/>
          </a:xfrm>
          <a:prstGeom prst="rect">
            <a:avLst/>
          </a:prstGeom>
          <a:noFill/>
          <a:ln/>
        </p:spPr>
        <p:txBody>
          <a:bodyPr wrap="square" lIns="0" tIns="0" rIns="0" bIns="0" rtlCol="0" anchor="ctr"/>
          <a:lstStyle/>
          <a:p>
            <a:pPr algn="ctr" indent="0" marL="0">
              <a:buNone/>
            </a:pPr>
            <a:r>
              <a:rPr lang="en-US" sz="2200" b="1" dirty="0">
                <a:solidFill>
                  <a:schemeClr val="accent2"/>
                </a:solidFill>
              </a:rPr>
              <a:t>→</a:t>
            </a:r>
            <a:endParaRPr lang="en-US" sz="2200" dirty="0"/>
          </a:p>
        </p:txBody>
      </p:sp>
      <p:sp>
        <p:nvSpPr>
          <p:cNvPr id="12" name="Model card"/>
          <p:cNvSpPr/>
          <p:nvPr/>
        </p:nvSpPr>
        <p:spPr>
          <a:xfrm>
            <a:off x="3337560" y="1371600"/>
            <a:ext cx="2514600" cy="2286000"/>
          </a:xfrm>
          <a:prstGeom prst="roundRect">
            <a:avLst>
              <a:gd name="adj" fmla="val 3200"/>
            </a:avLst>
          </a:prstGeom>
          <a:solidFill>
            <a:schemeClr val="bg2"/>
          </a:solidFill>
          <a:ln/>
        </p:spPr>
      </p:sp>
      <p:sp>
        <p:nvSpPr>
          <p:cNvPr id="13" name="Icon circle"/>
          <p:cNvSpPr/>
          <p:nvPr/>
        </p:nvSpPr>
        <p:spPr>
          <a:xfrm>
            <a:off x="4224528" y="1600200"/>
            <a:ext cx="731520" cy="731520"/>
          </a:xfrm>
          <a:prstGeom prst="ellipse">
            <a:avLst/>
          </a:prstGeom>
          <a:solidFill>
            <a:schemeClr val="tx2"/>
          </a:solidFill>
          <a:ln/>
        </p:spPr>
      </p:sp>
      <p:pic>
        <p:nvPicPr>
          <p:cNvPr id="14" name="Image 1" descr="icon">    </p:cNvPr>
          <p:cNvPicPr>
            <a:picLocks noChangeAspect="1"/>
          </p:cNvPicPr>
          <p:nvPr/>
        </p:nvPicPr>
        <p:blipFill>
          <a:blip r:embed="rId2"/>
          <a:stretch>
            <a:fillRect/>
          </a:stretch>
        </p:blipFill>
        <p:spPr>
          <a:xfrm>
            <a:off x="4407408" y="1783080"/>
            <a:ext cx="365760" cy="365760"/>
          </a:xfrm>
          <a:prstGeom prst="rect">
            <a:avLst/>
          </a:prstGeom>
        </p:spPr>
      </p:pic>
      <p:sp>
        <p:nvSpPr>
          <p:cNvPr id="15" name="Text 11"/>
          <p:cNvSpPr txBox="1"/>
          <p:nvPr/>
        </p:nvSpPr>
        <p:spPr>
          <a:xfrm>
            <a:off x="3520440" y="2468880"/>
            <a:ext cx="2148840" cy="365760"/>
          </a:xfrm>
          <a:prstGeom prst="rect">
            <a:avLst/>
          </a:prstGeom>
          <a:noFill/>
          <a:ln/>
        </p:spPr>
        <p:txBody>
          <a:bodyPr wrap="square" lIns="0" tIns="0" rIns="0" bIns="0" rtlCol="0" anchor="ctr"/>
          <a:lstStyle/>
          <a:p>
            <a:pPr algn="ctr" indent="0" marL="0">
              <a:buNone/>
            </a:pPr>
            <a:r>
              <a:rPr lang="en-US" sz="1800" b="1" dirty="0">
                <a:solidFill>
                  <a:schemeClr val="tx2"/>
                </a:solidFill>
                <a:latin typeface="+mj-lt" pitchFamily="34" charset="0"/>
                <a:ea typeface="+mj-lt" pitchFamily="34" charset="-122"/>
                <a:cs typeface="+mj-lt" pitchFamily="34" charset="-120"/>
              </a:rPr>
              <a:t>For what</a:t>
            </a:r>
            <a:endParaRPr lang="en-US" sz="1800" dirty="0"/>
          </a:p>
        </p:txBody>
      </p:sp>
      <p:sp>
        <p:nvSpPr>
          <p:cNvPr id="16" name="Text 12"/>
          <p:cNvSpPr txBox="1"/>
          <p:nvPr/>
        </p:nvSpPr>
        <p:spPr>
          <a:xfrm>
            <a:off x="3520440" y="2880360"/>
            <a:ext cx="2148840" cy="640080"/>
          </a:xfrm>
          <a:prstGeom prst="rect">
            <a:avLst/>
          </a:prstGeom>
          <a:noFill/>
          <a:ln/>
        </p:spPr>
        <p:txBody>
          <a:bodyPr wrap="square" lIns="0" tIns="0" rIns="0" bIns="0" rtlCol="0" anchor="t"/>
          <a:lstStyle/>
          <a:p>
            <a:pPr algn="ctr" indent="0" marL="0">
              <a:buNone/>
            </a:pPr>
            <a:r>
              <a:rPr lang="en-US" sz="1400" i="1" dirty="0">
                <a:solidFill>
                  <a:schemeClr val="accent5"/>
                </a:solidFill>
              </a:rPr>
              <a:t>[Product, service or licence]</a:t>
            </a:r>
            <a:endParaRPr lang="en-US" sz="1400" dirty="0"/>
          </a:p>
        </p:txBody>
      </p:sp>
      <p:sp>
        <p:nvSpPr>
          <p:cNvPr id="17" name="Text 13"/>
          <p:cNvSpPr txBox="1"/>
          <p:nvPr/>
        </p:nvSpPr>
        <p:spPr>
          <a:xfrm>
            <a:off x="5852160" y="2286000"/>
            <a:ext cx="365760" cy="457200"/>
          </a:xfrm>
          <a:prstGeom prst="rect">
            <a:avLst/>
          </a:prstGeom>
          <a:noFill/>
          <a:ln/>
        </p:spPr>
        <p:txBody>
          <a:bodyPr wrap="square" lIns="0" tIns="0" rIns="0" bIns="0" rtlCol="0" anchor="ctr"/>
          <a:lstStyle/>
          <a:p>
            <a:pPr algn="ctr" indent="0" marL="0">
              <a:buNone/>
            </a:pPr>
            <a:r>
              <a:rPr lang="en-US" sz="2200" b="1" dirty="0">
                <a:solidFill>
                  <a:schemeClr val="accent2"/>
                </a:solidFill>
              </a:rPr>
              <a:t>→</a:t>
            </a:r>
            <a:endParaRPr lang="en-US" sz="2200" dirty="0"/>
          </a:p>
        </p:txBody>
      </p:sp>
      <p:sp>
        <p:nvSpPr>
          <p:cNvPr id="18" name="Model card"/>
          <p:cNvSpPr/>
          <p:nvPr/>
        </p:nvSpPr>
        <p:spPr>
          <a:xfrm>
            <a:off x="6217920" y="1371600"/>
            <a:ext cx="2514600" cy="2286000"/>
          </a:xfrm>
          <a:prstGeom prst="roundRect">
            <a:avLst>
              <a:gd name="adj" fmla="val 3200"/>
            </a:avLst>
          </a:prstGeom>
          <a:solidFill>
            <a:schemeClr val="bg2"/>
          </a:solidFill>
          <a:ln/>
        </p:spPr>
      </p:sp>
      <p:sp>
        <p:nvSpPr>
          <p:cNvPr id="19" name="Icon circle"/>
          <p:cNvSpPr/>
          <p:nvPr/>
        </p:nvSpPr>
        <p:spPr>
          <a:xfrm>
            <a:off x="7104888" y="1600200"/>
            <a:ext cx="731520" cy="731520"/>
          </a:xfrm>
          <a:prstGeom prst="ellipse">
            <a:avLst/>
          </a:prstGeom>
          <a:solidFill>
            <a:schemeClr val="tx2"/>
          </a:solidFill>
          <a:ln/>
        </p:spPr>
      </p:sp>
      <p:pic>
        <p:nvPicPr>
          <p:cNvPr id="20" name="Image 2" descr="icon">    </p:cNvPr>
          <p:cNvPicPr>
            <a:picLocks noChangeAspect="1"/>
          </p:cNvPicPr>
          <p:nvPr/>
        </p:nvPicPr>
        <p:blipFill>
          <a:blip r:embed="rId3"/>
          <a:stretch>
            <a:fillRect/>
          </a:stretch>
        </p:blipFill>
        <p:spPr>
          <a:xfrm>
            <a:off x="7287768" y="1783080"/>
            <a:ext cx="365760" cy="365760"/>
          </a:xfrm>
          <a:prstGeom prst="rect">
            <a:avLst/>
          </a:prstGeom>
        </p:spPr>
      </p:pic>
      <p:sp>
        <p:nvSpPr>
          <p:cNvPr id="21" name="Text 16"/>
          <p:cNvSpPr txBox="1"/>
          <p:nvPr/>
        </p:nvSpPr>
        <p:spPr>
          <a:xfrm>
            <a:off x="6400800" y="2468880"/>
            <a:ext cx="2148840" cy="365760"/>
          </a:xfrm>
          <a:prstGeom prst="rect">
            <a:avLst/>
          </a:prstGeom>
          <a:noFill/>
          <a:ln/>
        </p:spPr>
        <p:txBody>
          <a:bodyPr wrap="square" lIns="0" tIns="0" rIns="0" bIns="0" rtlCol="0" anchor="ctr"/>
          <a:lstStyle/>
          <a:p>
            <a:pPr algn="ctr" indent="0" marL="0">
              <a:buNone/>
            </a:pPr>
            <a:r>
              <a:rPr lang="en-US" sz="1800" b="1" dirty="0">
                <a:solidFill>
                  <a:schemeClr val="tx2"/>
                </a:solidFill>
                <a:latin typeface="+mj-lt" pitchFamily="34" charset="0"/>
                <a:ea typeface="+mj-lt" pitchFamily="34" charset="-122"/>
                <a:cs typeface="+mj-lt" pitchFamily="34" charset="-120"/>
              </a:rPr>
              <a:t>How</a:t>
            </a:r>
            <a:endParaRPr lang="en-US" sz="1800" dirty="0"/>
          </a:p>
        </p:txBody>
      </p:sp>
      <p:sp>
        <p:nvSpPr>
          <p:cNvPr id="22" name="Text 17"/>
          <p:cNvSpPr txBox="1"/>
          <p:nvPr/>
        </p:nvSpPr>
        <p:spPr>
          <a:xfrm>
            <a:off x="6400800" y="2880360"/>
            <a:ext cx="2148840" cy="640080"/>
          </a:xfrm>
          <a:prstGeom prst="rect">
            <a:avLst/>
          </a:prstGeom>
          <a:noFill/>
          <a:ln/>
        </p:spPr>
        <p:txBody>
          <a:bodyPr wrap="square" lIns="0" tIns="0" rIns="0" bIns="0" rtlCol="0" anchor="t"/>
          <a:lstStyle/>
          <a:p>
            <a:pPr algn="ctr" indent="0" marL="0">
              <a:buNone/>
            </a:pPr>
            <a:r>
              <a:rPr lang="en-US" sz="1400" i="1" dirty="0">
                <a:solidFill>
                  <a:schemeClr val="accent5"/>
                </a:solidFill>
              </a:rPr>
              <a:t>[Pricing model and frequency]</a:t>
            </a:r>
            <a:endParaRPr lang="en-US" sz="1400" dirty="0"/>
          </a:p>
        </p:txBody>
      </p:sp>
      <p:sp>
        <p:nvSpPr>
          <p:cNvPr id="23" name="Text 18"/>
          <p:cNvSpPr txBox="1"/>
          <p:nvPr/>
        </p:nvSpPr>
        <p:spPr>
          <a:xfrm>
            <a:off x="457200" y="3931920"/>
            <a:ext cx="8229600" cy="457200"/>
          </a:xfrm>
          <a:prstGeom prst="rect">
            <a:avLst/>
          </a:prstGeom>
          <a:noFill/>
          <a:ln/>
        </p:spPr>
        <p:txBody>
          <a:bodyPr wrap="square" lIns="0" tIns="0" rIns="0" bIns="0" rtlCol="0" anchor="ctr"/>
          <a:lstStyle/>
          <a:p>
            <a:pPr indent="0" marL="0">
              <a:buNone/>
            </a:pPr>
            <a:r>
              <a:rPr lang="en-US" sz="1400" i="1" dirty="0">
                <a:solidFill>
                  <a:schemeClr val="accent5"/>
                </a:solidFill>
              </a:rPr>
              <a:t>[Key partners or channels that make it possible]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766560" cy="685800"/>
          </a:xfrm>
          <a:prstGeom prst="rect">
            <a:avLst/>
          </a:prstGeom>
          <a:noFill/>
          <a:ln/>
        </p:spPr>
        <p:txBody>
          <a:bodyPr wrap="square" lIns="0" tIns="0" rIns="0" bIns="0" rtlCol="0" anchor="ctr"/>
          <a:lstStyle/>
          <a:p>
            <a:pPr algn="l" indent="0" marL="0">
              <a:buNone/>
            </a:pPr>
            <a:r>
              <a:rPr lang="en-US" sz="2600" b="1" dirty="0">
                <a:solidFill>
                  <a:schemeClr val="tx2"/>
                </a:solidFill>
              </a:rPr>
              <a:t>[Why you, and not the alternatives]</a:t>
            </a:r>
            <a:endParaRPr lang="en-US" sz="2600" dirty="0"/>
          </a:p>
        </p:txBody>
      </p:sp>
      <p:sp>
        <p:nvSpPr>
          <p:cNvPr id="3" name="Timing chip"/>
          <p:cNvSpPr/>
          <p:nvPr/>
        </p:nvSpPr>
        <p:spPr>
          <a:xfrm>
            <a:off x="7315200" y="429768"/>
            <a:ext cx="1371600" cy="384048"/>
          </a:xfrm>
          <a:prstGeom prst="roundRect">
            <a:avLst>
              <a:gd name="adj" fmla="val 50000"/>
            </a:avLst>
          </a:prstGeom>
          <a:solidFill>
            <a:schemeClr val="bg2"/>
          </a:solidFill>
          <a:ln/>
        </p:spPr>
      </p:sp>
      <p:sp>
        <p:nvSpPr>
          <p:cNvPr id="4" name="Timing"/>
          <p:cNvSpPr txBox="1"/>
          <p:nvPr/>
        </p:nvSpPr>
        <p:spPr>
          <a:xfrm>
            <a:off x="7315200" y="429768"/>
            <a:ext cx="1371600" cy="384048"/>
          </a:xfrm>
          <a:prstGeom prst="rect">
            <a:avLst/>
          </a:prstGeom>
          <a:noFill/>
          <a:ln/>
        </p:spPr>
        <p:txBody>
          <a:bodyPr wrap="square" lIns="0" tIns="0" rIns="0" bIns="0" rtlCol="0" anchor="ctr"/>
          <a:lstStyle/>
          <a:p>
            <a:pPr algn="ctr" indent="0" marL="0">
              <a:buNone/>
            </a:pPr>
            <a:r>
              <a:rPr lang="en-US" sz="1300" b="1" dirty="0">
                <a:solidFill>
                  <a:schemeClr val="tx2"/>
                </a:solidFill>
              </a:rPr>
              <a:t>10 s</a:t>
            </a:r>
            <a:endParaRPr lang="en-US" sz="1300" dirty="0"/>
          </a:p>
        </p:txBody>
      </p:sp>
      <p:sp>
        <p:nvSpPr>
          <p:cNvPr id="5" name="Section label"/>
          <p:cNvSpPr txBox="1"/>
          <p:nvPr/>
        </p:nvSpPr>
        <p:spPr>
          <a:xfrm>
            <a:off x="457200" y="109728"/>
            <a:ext cx="4572000" cy="256032"/>
          </a:xfrm>
          <a:prstGeom prst="rect">
            <a:avLst/>
          </a:prstGeom>
          <a:noFill/>
          <a:ln/>
        </p:spPr>
        <p:txBody>
          <a:bodyPr wrap="square" lIns="0" tIns="0" rIns="0" bIns="0" rtlCol="0" anchor="ctr"/>
          <a:lstStyle/>
          <a:p>
            <a:pPr indent="0" marL="0">
              <a:buNone/>
            </a:pPr>
            <a:r>
              <a:rPr lang="en-US" sz="1100" b="1" spc="100" kern="0" dirty="0">
                <a:solidFill>
                  <a:schemeClr val="accent2"/>
                </a:solidFill>
                <a:latin typeface="+mj-lt" pitchFamily="34" charset="0"/>
                <a:ea typeface="+mj-lt" pitchFamily="34" charset="-122"/>
                <a:cs typeface="+mj-lt" pitchFamily="34" charset="-120"/>
              </a:rPr>
              <a:t>09 · COMPETITION / POSITIONING</a:t>
            </a:r>
            <a:endParaRPr lang="en-US" sz="1100" dirty="0"/>
          </a:p>
        </p:txBody>
      </p:sp>
      <p:sp>
        <p:nvSpPr>
          <p:cNvPr id="6" name="Matrix"/>
          <p:cNvSpPr/>
          <p:nvPr/>
        </p:nvSpPr>
        <p:spPr>
          <a:xfrm>
            <a:off x="822960" y="1234440"/>
            <a:ext cx="4206240" cy="3200400"/>
          </a:xfrm>
          <a:prstGeom prst="rect">
            <a:avLst/>
          </a:prstGeom>
          <a:solidFill>
            <a:schemeClr val="bg2"/>
          </a:solidFill>
          <a:ln/>
        </p:spPr>
      </p:sp>
      <p:sp>
        <p:nvSpPr>
          <p:cNvPr id="7" name="Shape 5"/>
          <p:cNvSpPr/>
          <p:nvPr/>
        </p:nvSpPr>
        <p:spPr>
          <a:xfrm>
            <a:off x="2926080" y="1234440"/>
            <a:ext cx="0" cy="3200400"/>
          </a:xfrm>
          <a:prstGeom prst="line">
            <a:avLst/>
          </a:prstGeom>
          <a:noFill/>
          <a:ln w="12700">
            <a:solidFill>
              <a:srgbClr val="5E7A8F"/>
            </a:solidFill>
            <a:prstDash val="solid"/>
          </a:ln>
        </p:spPr>
      </p:sp>
      <p:sp>
        <p:nvSpPr>
          <p:cNvPr id="8" name="Shape 6"/>
          <p:cNvSpPr/>
          <p:nvPr/>
        </p:nvSpPr>
        <p:spPr>
          <a:xfrm>
            <a:off x="822960" y="2834640"/>
            <a:ext cx="4206240" cy="0"/>
          </a:xfrm>
          <a:prstGeom prst="line">
            <a:avLst/>
          </a:prstGeom>
          <a:noFill/>
          <a:ln w="12700">
            <a:solidFill>
              <a:srgbClr val="5E7A8F"/>
            </a:solidFill>
            <a:prstDash val="solid"/>
          </a:ln>
        </p:spPr>
      </p:sp>
      <p:sp>
        <p:nvSpPr>
          <p:cNvPr id="9" name="Text 7"/>
          <p:cNvSpPr txBox="1"/>
          <p:nvPr/>
        </p:nvSpPr>
        <p:spPr>
          <a:xfrm>
            <a:off x="822960" y="4453128"/>
            <a:ext cx="4206240" cy="274320"/>
          </a:xfrm>
          <a:prstGeom prst="rect">
            <a:avLst/>
          </a:prstGeom>
          <a:noFill/>
          <a:ln/>
        </p:spPr>
        <p:txBody>
          <a:bodyPr wrap="square" lIns="0" tIns="0" rIns="0" bIns="0" rtlCol="0" anchor="ctr"/>
          <a:lstStyle/>
          <a:p>
            <a:pPr algn="ctr" indent="0" marL="0">
              <a:buNone/>
            </a:pPr>
            <a:r>
              <a:rPr lang="en-US" sz="1100" i="1" dirty="0">
                <a:solidFill>
                  <a:schemeClr val="accent5"/>
                </a:solidFill>
              </a:rPr>
              <a:t>[Criterion 1: e.g. cost]</a:t>
            </a:r>
            <a:endParaRPr lang="en-US" sz="1100" dirty="0"/>
          </a:p>
        </p:txBody>
      </p:sp>
      <p:sp>
        <p:nvSpPr>
          <p:cNvPr id="10" name="Text 8"/>
          <p:cNvSpPr txBox="1"/>
          <p:nvPr/>
        </p:nvSpPr>
        <p:spPr>
          <a:xfrm>
            <a:off x="228600" y="1234440"/>
            <a:ext cx="457200" cy="3200400"/>
          </a:xfrm>
          <a:prstGeom prst="rect">
            <a:avLst/>
          </a:prstGeom>
          <a:noFill/>
          <a:ln/>
        </p:spPr>
        <p:txBody>
          <a:bodyPr wrap="square" lIns="0" tIns="0" rIns="0" bIns="0" rtlCol="0" anchor="ctr" vert="vert270"/>
          <a:lstStyle/>
          <a:p>
            <a:pPr algn="ctr" indent="0" marL="0">
              <a:buNone/>
            </a:pPr>
            <a:r>
              <a:rPr lang="en-US" sz="1100" i="1" dirty="0">
                <a:solidFill>
                  <a:schemeClr val="accent5"/>
                </a:solidFill>
              </a:rPr>
              <a:t>[Criterion 2]</a:t>
            </a:r>
            <a:endParaRPr lang="en-US" sz="1100" dirty="0"/>
          </a:p>
        </p:txBody>
      </p:sp>
      <p:sp>
        <p:nvSpPr>
          <p:cNvPr id="11" name="Shape 9"/>
          <p:cNvSpPr/>
          <p:nvPr/>
        </p:nvSpPr>
        <p:spPr>
          <a:xfrm>
            <a:off x="3994099" y="1764792"/>
            <a:ext cx="219456" cy="219456"/>
          </a:xfrm>
          <a:prstGeom prst="ellipse">
            <a:avLst/>
          </a:prstGeom>
          <a:solidFill>
            <a:schemeClr val="accent2"/>
          </a:solidFill>
          <a:ln/>
        </p:spPr>
      </p:sp>
      <p:sp>
        <p:nvSpPr>
          <p:cNvPr id="12" name="Text 10"/>
          <p:cNvSpPr txBox="1"/>
          <p:nvPr/>
        </p:nvSpPr>
        <p:spPr>
          <a:xfrm>
            <a:off x="4240987" y="1737360"/>
            <a:ext cx="1463040" cy="274320"/>
          </a:xfrm>
          <a:prstGeom prst="rect">
            <a:avLst/>
          </a:prstGeom>
          <a:noFill/>
          <a:ln/>
        </p:spPr>
        <p:txBody>
          <a:bodyPr wrap="square" lIns="0" tIns="0" rIns="0" bIns="0" rtlCol="0" anchor="ctr"/>
          <a:lstStyle/>
          <a:p>
            <a:pPr indent="0" marL="0">
              <a:buNone/>
            </a:pPr>
            <a:r>
              <a:rPr lang="en-US" sz="1100" b="1" dirty="0">
                <a:solidFill>
                  <a:schemeClr val="tx2"/>
                </a:solidFill>
              </a:rPr>
              <a:t>You</a:t>
            </a:r>
            <a:endParaRPr lang="en-US" sz="1100" dirty="0"/>
          </a:p>
        </p:txBody>
      </p:sp>
      <p:sp>
        <p:nvSpPr>
          <p:cNvPr id="13" name="Shape 11"/>
          <p:cNvSpPr/>
          <p:nvPr/>
        </p:nvSpPr>
        <p:spPr>
          <a:xfrm>
            <a:off x="1638605" y="3364992"/>
            <a:ext cx="219456" cy="219456"/>
          </a:xfrm>
          <a:prstGeom prst="ellipse">
            <a:avLst/>
          </a:prstGeom>
          <a:solidFill>
            <a:schemeClr val="accent5"/>
          </a:solidFill>
          <a:ln/>
        </p:spPr>
      </p:sp>
      <p:sp>
        <p:nvSpPr>
          <p:cNvPr id="14" name="Text 12"/>
          <p:cNvSpPr txBox="1"/>
          <p:nvPr/>
        </p:nvSpPr>
        <p:spPr>
          <a:xfrm>
            <a:off x="1885493" y="3337560"/>
            <a:ext cx="1463040" cy="274320"/>
          </a:xfrm>
          <a:prstGeom prst="rect">
            <a:avLst/>
          </a:prstGeom>
          <a:noFill/>
          <a:ln/>
        </p:spPr>
        <p:txBody>
          <a:bodyPr wrap="square" lIns="0" tIns="0" rIns="0" bIns="0" rtlCol="0" anchor="ctr"/>
          <a:lstStyle/>
          <a:p>
            <a:pPr indent="0" marL="0">
              <a:buNone/>
            </a:pPr>
            <a:r>
              <a:rPr lang="en-US" sz="1100" dirty="0">
                <a:solidFill>
                  <a:schemeClr val="tx2"/>
                </a:solidFill>
              </a:rPr>
              <a:t>Current practice</a:t>
            </a:r>
            <a:endParaRPr lang="en-US" sz="1100" dirty="0"/>
          </a:p>
        </p:txBody>
      </p:sp>
      <p:sp>
        <p:nvSpPr>
          <p:cNvPr id="15" name="Shape 13"/>
          <p:cNvSpPr/>
          <p:nvPr/>
        </p:nvSpPr>
        <p:spPr>
          <a:xfrm>
            <a:off x="1217981" y="4005072"/>
            <a:ext cx="219456" cy="219456"/>
          </a:xfrm>
          <a:prstGeom prst="ellipse">
            <a:avLst/>
          </a:prstGeom>
          <a:solidFill>
            <a:schemeClr val="accent5"/>
          </a:solidFill>
          <a:ln/>
        </p:spPr>
      </p:sp>
      <p:sp>
        <p:nvSpPr>
          <p:cNvPr id="16" name="Text 14"/>
          <p:cNvSpPr txBox="1"/>
          <p:nvPr/>
        </p:nvSpPr>
        <p:spPr>
          <a:xfrm>
            <a:off x="1464869" y="3977640"/>
            <a:ext cx="1463040" cy="274320"/>
          </a:xfrm>
          <a:prstGeom prst="rect">
            <a:avLst/>
          </a:prstGeom>
          <a:noFill/>
          <a:ln/>
        </p:spPr>
        <p:txBody>
          <a:bodyPr wrap="square" lIns="0" tIns="0" rIns="0" bIns="0" rtlCol="0" anchor="ctr"/>
          <a:lstStyle/>
          <a:p>
            <a:pPr indent="0" marL="0">
              <a:buNone/>
            </a:pPr>
            <a:r>
              <a:rPr lang="en-US" sz="1100" dirty="0">
                <a:solidFill>
                  <a:schemeClr val="tx2"/>
                </a:solidFill>
              </a:rPr>
              <a:t>Doing nothing</a:t>
            </a:r>
            <a:endParaRPr lang="en-US" sz="1100" dirty="0"/>
          </a:p>
        </p:txBody>
      </p:sp>
      <p:sp>
        <p:nvSpPr>
          <p:cNvPr id="17" name="Shape 15"/>
          <p:cNvSpPr/>
          <p:nvPr/>
        </p:nvSpPr>
        <p:spPr>
          <a:xfrm>
            <a:off x="3236976" y="3204972"/>
            <a:ext cx="219456" cy="219456"/>
          </a:xfrm>
          <a:prstGeom prst="ellipse">
            <a:avLst/>
          </a:prstGeom>
          <a:solidFill>
            <a:schemeClr val="accent5"/>
          </a:solidFill>
          <a:ln/>
        </p:spPr>
      </p:sp>
      <p:sp>
        <p:nvSpPr>
          <p:cNvPr id="18" name="Text 16"/>
          <p:cNvSpPr txBox="1"/>
          <p:nvPr/>
        </p:nvSpPr>
        <p:spPr>
          <a:xfrm>
            <a:off x="3483864" y="3177540"/>
            <a:ext cx="1463040" cy="274320"/>
          </a:xfrm>
          <a:prstGeom prst="rect">
            <a:avLst/>
          </a:prstGeom>
          <a:noFill/>
          <a:ln/>
        </p:spPr>
        <p:txBody>
          <a:bodyPr wrap="square" lIns="0" tIns="0" rIns="0" bIns="0" rtlCol="0" anchor="ctr"/>
          <a:lstStyle/>
          <a:p>
            <a:pPr indent="0" marL="0">
              <a:buNone/>
            </a:pPr>
            <a:r>
              <a:rPr lang="en-US" sz="1100" dirty="0">
                <a:solidFill>
                  <a:schemeClr val="tx2"/>
                </a:solidFill>
              </a:rPr>
              <a:t>[Alternative]</a:t>
            </a:r>
            <a:endParaRPr lang="en-US" sz="1100" dirty="0"/>
          </a:p>
        </p:txBody>
      </p:sp>
      <p:sp>
        <p:nvSpPr>
          <p:cNvPr id="19" name="Text 17"/>
          <p:cNvSpPr txBox="1"/>
          <p:nvPr/>
        </p:nvSpPr>
        <p:spPr>
          <a:xfrm>
            <a:off x="5486400" y="1280160"/>
            <a:ext cx="3200400" cy="365760"/>
          </a:xfrm>
          <a:prstGeom prst="rect">
            <a:avLst/>
          </a:prstGeom>
          <a:noFill/>
          <a:ln/>
        </p:spPr>
        <p:txBody>
          <a:bodyPr wrap="square" lIns="0" tIns="0" rIns="0" bIns="0" rtlCol="0" anchor="ctr"/>
          <a:lstStyle/>
          <a:p>
            <a:pPr indent="0" marL="0">
              <a:buNone/>
            </a:pPr>
            <a:r>
              <a:rPr lang="en-US" sz="1800" b="1" dirty="0">
                <a:solidFill>
                  <a:schemeClr val="tx2"/>
                </a:solidFill>
                <a:latin typeface="+mj-lt" pitchFamily="34" charset="0"/>
                <a:ea typeface="+mj-lt" pitchFamily="34" charset="-122"/>
                <a:cs typeface="+mj-lt" pitchFamily="34" charset="-120"/>
              </a:rPr>
              <a:t>Your differentiators</a:t>
            </a:r>
            <a:endParaRPr lang="en-US" sz="1800" dirty="0"/>
          </a:p>
        </p:txBody>
      </p:sp>
      <p:sp>
        <p:nvSpPr>
          <p:cNvPr id="20" name="Text 18"/>
          <p:cNvSpPr txBox="1"/>
          <p:nvPr/>
        </p:nvSpPr>
        <p:spPr>
          <a:xfrm>
            <a:off x="5486400" y="1783080"/>
            <a:ext cx="3200400" cy="1280160"/>
          </a:xfrm>
          <a:prstGeom prst="rect">
            <a:avLst/>
          </a:prstGeom>
          <a:noFill/>
          <a:ln/>
        </p:spPr>
        <p:txBody>
          <a:bodyPr wrap="square" lIns="0" tIns="0" rIns="0" bIns="0" rtlCol="0" anchor="t"/>
          <a:lstStyle/>
          <a:p>
            <a:pPr marL="342900" indent="-342900">
              <a:spcAft>
                <a:spcPts val="1000"/>
              </a:spcAft>
              <a:buSzPct val="100000"/>
              <a:buChar char="•"/>
            </a:pPr>
            <a:r>
              <a:rPr lang="en-US" sz="1400" i="1" dirty="0">
                <a:solidFill>
                  <a:schemeClr val="accent5"/>
                </a:solidFill>
              </a:rPr>
              <a:t>[Differentiator 1]</a:t>
            </a:r>
            <a:endParaRPr lang="en-US" sz="1400" dirty="0"/>
          </a:p>
          <a:p>
            <a:pPr marL="342900" indent="-342900">
              <a:spcAft>
                <a:spcPts val="1000"/>
              </a:spcAft>
              <a:buSzPct val="100000"/>
              <a:buChar char="•"/>
            </a:pPr>
            <a:r>
              <a:rPr lang="en-US" sz="1400" i="1" dirty="0">
                <a:solidFill>
                  <a:schemeClr val="accent5"/>
                </a:solidFill>
              </a:rPr>
              <a:t>[Differentiator 2]</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766560" cy="685800"/>
          </a:xfrm>
          <a:prstGeom prst="rect">
            <a:avLst/>
          </a:prstGeom>
          <a:noFill/>
          <a:ln/>
        </p:spPr>
        <p:txBody>
          <a:bodyPr wrap="square" lIns="0" tIns="0" rIns="0" bIns="0" rtlCol="0" anchor="ctr"/>
          <a:lstStyle/>
          <a:p>
            <a:pPr algn="l" indent="0" marL="0">
              <a:buNone/>
            </a:pPr>
            <a:r>
              <a:rPr lang="en-US" sz="2600" b="1" dirty="0">
                <a:solidFill>
                  <a:schemeClr val="tx2"/>
                </a:solidFill>
              </a:rPr>
              <a:t>[Why this team can do it]</a:t>
            </a:r>
            <a:endParaRPr lang="en-US" sz="2600" dirty="0"/>
          </a:p>
        </p:txBody>
      </p:sp>
      <p:sp>
        <p:nvSpPr>
          <p:cNvPr id="3" name="Timing chip"/>
          <p:cNvSpPr/>
          <p:nvPr/>
        </p:nvSpPr>
        <p:spPr>
          <a:xfrm>
            <a:off x="7315200" y="429768"/>
            <a:ext cx="1371600" cy="384048"/>
          </a:xfrm>
          <a:prstGeom prst="roundRect">
            <a:avLst>
              <a:gd name="adj" fmla="val 50000"/>
            </a:avLst>
          </a:prstGeom>
          <a:solidFill>
            <a:schemeClr val="bg2"/>
          </a:solidFill>
          <a:ln/>
        </p:spPr>
      </p:sp>
      <p:sp>
        <p:nvSpPr>
          <p:cNvPr id="4" name="Timing"/>
          <p:cNvSpPr txBox="1"/>
          <p:nvPr/>
        </p:nvSpPr>
        <p:spPr>
          <a:xfrm>
            <a:off x="7315200" y="429768"/>
            <a:ext cx="1371600" cy="384048"/>
          </a:xfrm>
          <a:prstGeom prst="rect">
            <a:avLst/>
          </a:prstGeom>
          <a:noFill/>
          <a:ln/>
        </p:spPr>
        <p:txBody>
          <a:bodyPr wrap="square" lIns="0" tIns="0" rIns="0" bIns="0" rtlCol="0" anchor="ctr"/>
          <a:lstStyle/>
          <a:p>
            <a:pPr algn="ctr" indent="0" marL="0">
              <a:buNone/>
            </a:pPr>
            <a:r>
              <a:rPr lang="en-US" sz="1300" b="1" dirty="0">
                <a:solidFill>
                  <a:schemeClr val="tx2"/>
                </a:solidFill>
              </a:rPr>
              <a:t>10 s</a:t>
            </a:r>
            <a:endParaRPr lang="en-US" sz="1300" dirty="0"/>
          </a:p>
        </p:txBody>
      </p:sp>
      <p:sp>
        <p:nvSpPr>
          <p:cNvPr id="5" name="Section label"/>
          <p:cNvSpPr txBox="1"/>
          <p:nvPr/>
        </p:nvSpPr>
        <p:spPr>
          <a:xfrm>
            <a:off x="457200" y="109728"/>
            <a:ext cx="4572000" cy="256032"/>
          </a:xfrm>
          <a:prstGeom prst="rect">
            <a:avLst/>
          </a:prstGeom>
          <a:noFill/>
          <a:ln/>
        </p:spPr>
        <p:txBody>
          <a:bodyPr wrap="square" lIns="0" tIns="0" rIns="0" bIns="0" rtlCol="0" anchor="ctr"/>
          <a:lstStyle/>
          <a:p>
            <a:pPr indent="0" marL="0">
              <a:buNone/>
            </a:pPr>
            <a:r>
              <a:rPr lang="en-US" sz="1100" b="1" spc="100" kern="0" dirty="0">
                <a:solidFill>
                  <a:schemeClr val="accent2"/>
                </a:solidFill>
                <a:latin typeface="+mj-lt" pitchFamily="34" charset="0"/>
                <a:ea typeface="+mj-lt" pitchFamily="34" charset="-122"/>
                <a:cs typeface="+mj-lt" pitchFamily="34" charset="-120"/>
              </a:rPr>
              <a:t>10 · TEAM</a:t>
            </a:r>
            <a:endParaRPr lang="en-US" sz="1100" dirty="0"/>
          </a:p>
        </p:txBody>
      </p:sp>
      <p:sp>
        <p:nvSpPr>
          <p:cNvPr id="6" name="Member card"/>
          <p:cNvSpPr/>
          <p:nvPr/>
        </p:nvSpPr>
        <p:spPr>
          <a:xfrm>
            <a:off x="457200" y="1280160"/>
            <a:ext cx="1920240" cy="2103120"/>
          </a:xfrm>
          <a:prstGeom prst="roundRect">
            <a:avLst>
              <a:gd name="adj" fmla="val 3810"/>
            </a:avLst>
          </a:prstGeom>
          <a:solidFill>
            <a:schemeClr val="bg2"/>
          </a:solidFill>
          <a:ln/>
        </p:spPr>
      </p:sp>
      <p:sp>
        <p:nvSpPr>
          <p:cNvPr id="7" name="Photo placeholder"/>
          <p:cNvSpPr/>
          <p:nvPr/>
        </p:nvSpPr>
        <p:spPr>
          <a:xfrm>
            <a:off x="1005840" y="1463040"/>
            <a:ext cx="822960" cy="822960"/>
          </a:xfrm>
          <a:prstGeom prst="ellipse">
            <a:avLst/>
          </a:prstGeom>
          <a:solidFill>
            <a:schemeClr val="accent4"/>
          </a:solidFill>
          <a:ln/>
        </p:spPr>
      </p:sp>
      <p:sp>
        <p:nvSpPr>
          <p:cNvPr id="8" name="Text 6"/>
          <p:cNvSpPr txBox="1"/>
          <p:nvPr/>
        </p:nvSpPr>
        <p:spPr>
          <a:xfrm>
            <a:off x="548640" y="2423160"/>
            <a:ext cx="1737360" cy="822960"/>
          </a:xfrm>
          <a:prstGeom prst="rect">
            <a:avLst/>
          </a:prstGeom>
          <a:noFill/>
          <a:ln/>
        </p:spPr>
        <p:txBody>
          <a:bodyPr wrap="square" lIns="0" tIns="0" rIns="0" bIns="0" rtlCol="0" anchor="t"/>
          <a:lstStyle/>
          <a:p>
            <a:pPr algn="ctr" indent="0" marL="0">
              <a:buNone/>
            </a:pPr>
            <a:r>
              <a:rPr lang="en-US" sz="1300" b="1" dirty="0">
                <a:solidFill>
                  <a:srgbClr val="314F65"/>
                </a:solidFill>
              </a:rPr>
              <a:t>[Name]</a:t>
            </a:r>
            <a:endParaRPr lang="en-US" sz="1300" dirty="0"/>
          </a:p>
          <a:p>
            <a:pPr algn="ctr" indent="0" marL="0">
              <a:buNone/>
            </a:pPr>
            <a:r>
              <a:rPr lang="en-US" sz="1300" i="1" dirty="0">
                <a:solidFill>
                  <a:schemeClr val="accent5"/>
                </a:solidFill>
              </a:rPr>
              <a:t>[Role · key skill]</a:t>
            </a:r>
            <a:endParaRPr lang="en-US" sz="1300" dirty="0"/>
          </a:p>
        </p:txBody>
      </p:sp>
      <p:sp>
        <p:nvSpPr>
          <p:cNvPr id="9" name="Member card"/>
          <p:cNvSpPr/>
          <p:nvPr/>
        </p:nvSpPr>
        <p:spPr>
          <a:xfrm>
            <a:off x="2560320" y="1280160"/>
            <a:ext cx="1920240" cy="2103120"/>
          </a:xfrm>
          <a:prstGeom prst="roundRect">
            <a:avLst>
              <a:gd name="adj" fmla="val 3810"/>
            </a:avLst>
          </a:prstGeom>
          <a:solidFill>
            <a:schemeClr val="bg2"/>
          </a:solidFill>
          <a:ln/>
        </p:spPr>
      </p:sp>
      <p:sp>
        <p:nvSpPr>
          <p:cNvPr id="10" name="Photo placeholder"/>
          <p:cNvSpPr/>
          <p:nvPr/>
        </p:nvSpPr>
        <p:spPr>
          <a:xfrm>
            <a:off x="3108960" y="1463040"/>
            <a:ext cx="822960" cy="822960"/>
          </a:xfrm>
          <a:prstGeom prst="ellipse">
            <a:avLst/>
          </a:prstGeom>
          <a:solidFill>
            <a:schemeClr val="accent4"/>
          </a:solidFill>
          <a:ln/>
        </p:spPr>
      </p:sp>
      <p:sp>
        <p:nvSpPr>
          <p:cNvPr id="11" name="Text 9"/>
          <p:cNvSpPr txBox="1"/>
          <p:nvPr/>
        </p:nvSpPr>
        <p:spPr>
          <a:xfrm>
            <a:off x="2651760" y="2423160"/>
            <a:ext cx="1737360" cy="822960"/>
          </a:xfrm>
          <a:prstGeom prst="rect">
            <a:avLst/>
          </a:prstGeom>
          <a:noFill/>
          <a:ln/>
        </p:spPr>
        <p:txBody>
          <a:bodyPr wrap="square" lIns="0" tIns="0" rIns="0" bIns="0" rtlCol="0" anchor="t"/>
          <a:lstStyle/>
          <a:p>
            <a:pPr algn="ctr" indent="0" marL="0">
              <a:buNone/>
            </a:pPr>
            <a:r>
              <a:rPr lang="en-US" sz="1300" b="1" dirty="0">
                <a:solidFill>
                  <a:srgbClr val="314F65"/>
                </a:solidFill>
              </a:rPr>
              <a:t>[Name]</a:t>
            </a:r>
            <a:endParaRPr lang="en-US" sz="1300" dirty="0"/>
          </a:p>
          <a:p>
            <a:pPr algn="ctr" indent="0" marL="0">
              <a:buNone/>
            </a:pPr>
            <a:r>
              <a:rPr lang="en-US" sz="1300" i="1" dirty="0">
                <a:solidFill>
                  <a:schemeClr val="accent5"/>
                </a:solidFill>
              </a:rPr>
              <a:t>[Role · key skill]</a:t>
            </a:r>
            <a:endParaRPr lang="en-US" sz="1300" dirty="0"/>
          </a:p>
        </p:txBody>
      </p:sp>
      <p:sp>
        <p:nvSpPr>
          <p:cNvPr id="12" name="Member card"/>
          <p:cNvSpPr/>
          <p:nvPr/>
        </p:nvSpPr>
        <p:spPr>
          <a:xfrm>
            <a:off x="4663440" y="1280160"/>
            <a:ext cx="1920240" cy="2103120"/>
          </a:xfrm>
          <a:prstGeom prst="roundRect">
            <a:avLst>
              <a:gd name="adj" fmla="val 3810"/>
            </a:avLst>
          </a:prstGeom>
          <a:solidFill>
            <a:schemeClr val="bg2"/>
          </a:solidFill>
          <a:ln/>
        </p:spPr>
      </p:sp>
      <p:sp>
        <p:nvSpPr>
          <p:cNvPr id="13" name="Photo placeholder"/>
          <p:cNvSpPr/>
          <p:nvPr/>
        </p:nvSpPr>
        <p:spPr>
          <a:xfrm>
            <a:off x="5212080" y="1463040"/>
            <a:ext cx="822960" cy="822960"/>
          </a:xfrm>
          <a:prstGeom prst="ellipse">
            <a:avLst/>
          </a:prstGeom>
          <a:solidFill>
            <a:schemeClr val="accent4"/>
          </a:solidFill>
          <a:ln/>
        </p:spPr>
      </p:sp>
      <p:sp>
        <p:nvSpPr>
          <p:cNvPr id="14" name="Text 12"/>
          <p:cNvSpPr txBox="1"/>
          <p:nvPr/>
        </p:nvSpPr>
        <p:spPr>
          <a:xfrm>
            <a:off x="4754880" y="2423160"/>
            <a:ext cx="1737360" cy="822960"/>
          </a:xfrm>
          <a:prstGeom prst="rect">
            <a:avLst/>
          </a:prstGeom>
          <a:noFill/>
          <a:ln/>
        </p:spPr>
        <p:txBody>
          <a:bodyPr wrap="square" lIns="0" tIns="0" rIns="0" bIns="0" rtlCol="0" anchor="t"/>
          <a:lstStyle/>
          <a:p>
            <a:pPr algn="ctr" indent="0" marL="0">
              <a:buNone/>
            </a:pPr>
            <a:r>
              <a:rPr lang="en-US" sz="1300" b="1" dirty="0">
                <a:solidFill>
                  <a:srgbClr val="314F65"/>
                </a:solidFill>
              </a:rPr>
              <a:t>[Name]</a:t>
            </a:r>
            <a:endParaRPr lang="en-US" sz="1300" dirty="0"/>
          </a:p>
          <a:p>
            <a:pPr algn="ctr" indent="0" marL="0">
              <a:buNone/>
            </a:pPr>
            <a:r>
              <a:rPr lang="en-US" sz="1300" i="1" dirty="0">
                <a:solidFill>
                  <a:schemeClr val="accent5"/>
                </a:solidFill>
              </a:rPr>
              <a:t>[Role · key skill]</a:t>
            </a:r>
            <a:endParaRPr lang="en-US" sz="1300" dirty="0"/>
          </a:p>
        </p:txBody>
      </p:sp>
      <p:sp>
        <p:nvSpPr>
          <p:cNvPr id="15" name="Member card"/>
          <p:cNvSpPr/>
          <p:nvPr/>
        </p:nvSpPr>
        <p:spPr>
          <a:xfrm>
            <a:off x="6766560" y="1280160"/>
            <a:ext cx="1920240" cy="2103120"/>
          </a:xfrm>
          <a:prstGeom prst="roundRect">
            <a:avLst>
              <a:gd name="adj" fmla="val 3810"/>
            </a:avLst>
          </a:prstGeom>
          <a:solidFill>
            <a:schemeClr val="bg2"/>
          </a:solidFill>
          <a:ln/>
        </p:spPr>
      </p:sp>
      <p:sp>
        <p:nvSpPr>
          <p:cNvPr id="16" name="Photo placeholder"/>
          <p:cNvSpPr/>
          <p:nvPr/>
        </p:nvSpPr>
        <p:spPr>
          <a:xfrm>
            <a:off x="7315200" y="1463040"/>
            <a:ext cx="822960" cy="822960"/>
          </a:xfrm>
          <a:prstGeom prst="ellipse">
            <a:avLst/>
          </a:prstGeom>
          <a:solidFill>
            <a:schemeClr val="accent4"/>
          </a:solidFill>
          <a:ln/>
        </p:spPr>
      </p:sp>
      <p:sp>
        <p:nvSpPr>
          <p:cNvPr id="17" name="Text 15"/>
          <p:cNvSpPr txBox="1"/>
          <p:nvPr/>
        </p:nvSpPr>
        <p:spPr>
          <a:xfrm>
            <a:off x="6858000" y="2423160"/>
            <a:ext cx="1737360" cy="822960"/>
          </a:xfrm>
          <a:prstGeom prst="rect">
            <a:avLst/>
          </a:prstGeom>
          <a:noFill/>
          <a:ln/>
        </p:spPr>
        <p:txBody>
          <a:bodyPr wrap="square" lIns="0" tIns="0" rIns="0" bIns="0" rtlCol="0" anchor="t"/>
          <a:lstStyle/>
          <a:p>
            <a:pPr algn="ctr" indent="0" marL="0">
              <a:buNone/>
            </a:pPr>
            <a:r>
              <a:rPr lang="en-US" sz="1300" b="1" dirty="0">
                <a:solidFill>
                  <a:srgbClr val="314F65"/>
                </a:solidFill>
              </a:rPr>
              <a:t>[Name]</a:t>
            </a:r>
            <a:endParaRPr lang="en-US" sz="1300" dirty="0"/>
          </a:p>
          <a:p>
            <a:pPr algn="ctr" indent="0" marL="0">
              <a:buNone/>
            </a:pPr>
            <a:r>
              <a:rPr lang="en-US" sz="1300" i="1" dirty="0">
                <a:solidFill>
                  <a:schemeClr val="accent5"/>
                </a:solidFill>
              </a:rPr>
              <a:t>[Role · key skill]</a:t>
            </a:r>
            <a:endParaRPr lang="en-US" sz="1300" dirty="0"/>
          </a:p>
        </p:txBody>
      </p:sp>
      <p:sp>
        <p:nvSpPr>
          <p:cNvPr id="18" name="Icon circle"/>
          <p:cNvSpPr/>
          <p:nvPr/>
        </p:nvSpPr>
        <p:spPr>
          <a:xfrm>
            <a:off x="457200" y="3657600"/>
            <a:ext cx="548640" cy="548640"/>
          </a:xfrm>
          <a:prstGeom prst="ellipse">
            <a:avLst/>
          </a:prstGeom>
          <a:solidFill>
            <a:schemeClr val="accent2"/>
          </a:solidFill>
          <a:ln/>
        </p:spPr>
      </p:sp>
      <p:pic>
        <p:nvPicPr>
          <p:cNvPr id="19" name="Image 0" descr="icon">    </p:cNvPr>
          <p:cNvPicPr>
            <a:picLocks noChangeAspect="1"/>
          </p:cNvPicPr>
          <p:nvPr/>
        </p:nvPicPr>
        <p:blipFill>
          <a:blip r:embed="rId1"/>
          <a:stretch>
            <a:fillRect/>
          </a:stretch>
        </p:blipFill>
        <p:spPr>
          <a:xfrm>
            <a:off x="594360" y="3794760"/>
            <a:ext cx="274320" cy="274320"/>
          </a:xfrm>
          <a:prstGeom prst="rect">
            <a:avLst/>
          </a:prstGeom>
        </p:spPr>
      </p:pic>
      <p:sp>
        <p:nvSpPr>
          <p:cNvPr id="20" name="Text 17"/>
          <p:cNvSpPr txBox="1"/>
          <p:nvPr/>
        </p:nvSpPr>
        <p:spPr>
          <a:xfrm>
            <a:off x="1188720" y="3657600"/>
            <a:ext cx="7498080" cy="548640"/>
          </a:xfrm>
          <a:prstGeom prst="rect">
            <a:avLst/>
          </a:prstGeom>
          <a:noFill/>
          <a:ln/>
        </p:spPr>
        <p:txBody>
          <a:bodyPr wrap="square" lIns="0" tIns="0" rIns="0" bIns="0" rtlCol="0" anchor="ctr"/>
          <a:lstStyle/>
          <a:p>
            <a:pPr indent="0" marL="0">
              <a:buNone/>
            </a:pPr>
            <a:r>
              <a:rPr lang="en-US" sz="1400" b="1" dirty="0">
                <a:solidFill>
                  <a:srgbClr val="314F65"/>
                </a:solidFill>
              </a:rPr>
              <a:t>Advisers &amp; partners: </a:t>
            </a:r>
            <a:pPr indent="0" marL="0">
              <a:buNone/>
            </a:pPr>
            <a:r>
              <a:rPr lang="en-US" sz="1400" i="1" dirty="0">
                <a:solidFill>
                  <a:schemeClr val="accent5"/>
                </a:solidFill>
              </a:rPr>
              <a:t>[Who covers the skills the team lacks]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766560" cy="685800"/>
          </a:xfrm>
          <a:prstGeom prst="rect">
            <a:avLst/>
          </a:prstGeom>
          <a:noFill/>
          <a:ln/>
        </p:spPr>
        <p:txBody>
          <a:bodyPr wrap="square" lIns="0" tIns="0" rIns="0" bIns="0" rtlCol="0" anchor="ctr"/>
          <a:lstStyle/>
          <a:p>
            <a:pPr algn="l" indent="0" marL="0">
              <a:buNone/>
            </a:pPr>
            <a:r>
              <a:rPr lang="en-US" sz="2600" b="1" dirty="0">
                <a:solidFill>
                  <a:schemeClr val="tx2"/>
                </a:solidFill>
              </a:rPr>
              <a:t>[Next steps]</a:t>
            </a:r>
            <a:endParaRPr lang="en-US" sz="2600" dirty="0"/>
          </a:p>
        </p:txBody>
      </p:sp>
      <p:sp>
        <p:nvSpPr>
          <p:cNvPr id="3" name="Timing chip"/>
          <p:cNvSpPr/>
          <p:nvPr/>
        </p:nvSpPr>
        <p:spPr>
          <a:xfrm>
            <a:off x="7315200" y="429768"/>
            <a:ext cx="1371600" cy="384048"/>
          </a:xfrm>
          <a:prstGeom prst="roundRect">
            <a:avLst>
              <a:gd name="adj" fmla="val 50000"/>
            </a:avLst>
          </a:prstGeom>
          <a:solidFill>
            <a:schemeClr val="bg2"/>
          </a:solidFill>
          <a:ln/>
        </p:spPr>
      </p:sp>
      <p:sp>
        <p:nvSpPr>
          <p:cNvPr id="4" name="Timing"/>
          <p:cNvSpPr txBox="1"/>
          <p:nvPr/>
        </p:nvSpPr>
        <p:spPr>
          <a:xfrm>
            <a:off x="7315200" y="429768"/>
            <a:ext cx="1371600" cy="384048"/>
          </a:xfrm>
          <a:prstGeom prst="rect">
            <a:avLst/>
          </a:prstGeom>
          <a:noFill/>
          <a:ln/>
        </p:spPr>
        <p:txBody>
          <a:bodyPr wrap="square" lIns="0" tIns="0" rIns="0" bIns="0" rtlCol="0" anchor="ctr"/>
          <a:lstStyle/>
          <a:p>
            <a:pPr algn="ctr" indent="0" marL="0">
              <a:buNone/>
            </a:pPr>
            <a:r>
              <a:rPr lang="en-US" sz="1300" b="1" dirty="0">
                <a:solidFill>
                  <a:schemeClr val="tx2"/>
                </a:solidFill>
              </a:rPr>
              <a:t>10 s</a:t>
            </a:r>
            <a:endParaRPr lang="en-US" sz="1300" dirty="0"/>
          </a:p>
        </p:txBody>
      </p:sp>
      <p:sp>
        <p:nvSpPr>
          <p:cNvPr id="5" name="Section label"/>
          <p:cNvSpPr txBox="1"/>
          <p:nvPr/>
        </p:nvSpPr>
        <p:spPr>
          <a:xfrm>
            <a:off x="457200" y="109728"/>
            <a:ext cx="4572000" cy="256032"/>
          </a:xfrm>
          <a:prstGeom prst="rect">
            <a:avLst/>
          </a:prstGeom>
          <a:noFill/>
          <a:ln/>
        </p:spPr>
        <p:txBody>
          <a:bodyPr wrap="square" lIns="0" tIns="0" rIns="0" bIns="0" rtlCol="0" anchor="ctr"/>
          <a:lstStyle/>
          <a:p>
            <a:pPr indent="0" marL="0">
              <a:buNone/>
            </a:pPr>
            <a:r>
              <a:rPr lang="en-US" sz="1100" b="1" spc="100" kern="0" dirty="0">
                <a:solidFill>
                  <a:schemeClr val="accent2"/>
                </a:solidFill>
                <a:latin typeface="+mj-lt" pitchFamily="34" charset="0"/>
                <a:ea typeface="+mj-lt" pitchFamily="34" charset="-122"/>
                <a:cs typeface="+mj-lt" pitchFamily="34" charset="-120"/>
              </a:rPr>
              <a:t>11 · ROADMAP</a:t>
            </a:r>
            <a:endParaRPr lang="en-US" sz="1100" dirty="0"/>
          </a:p>
        </p:txBody>
      </p:sp>
      <p:sp>
        <p:nvSpPr>
          <p:cNvPr id="6" name="Shape 4"/>
          <p:cNvSpPr/>
          <p:nvPr/>
        </p:nvSpPr>
        <p:spPr>
          <a:xfrm>
            <a:off x="1417320" y="2331720"/>
            <a:ext cx="6309360" cy="0"/>
          </a:xfrm>
          <a:prstGeom prst="line">
            <a:avLst/>
          </a:prstGeom>
          <a:noFill/>
          <a:ln w="25400">
            <a:solidFill>
              <a:srgbClr val="5E7A8F"/>
            </a:solidFill>
            <a:prstDash val="solid"/>
          </a:ln>
        </p:spPr>
      </p:sp>
      <p:sp>
        <p:nvSpPr>
          <p:cNvPr id="7" name="Shape 5"/>
          <p:cNvSpPr/>
          <p:nvPr/>
        </p:nvSpPr>
        <p:spPr>
          <a:xfrm>
            <a:off x="1261872" y="2176272"/>
            <a:ext cx="310896" cy="310896"/>
          </a:xfrm>
          <a:prstGeom prst="ellipse">
            <a:avLst/>
          </a:prstGeom>
          <a:solidFill>
            <a:schemeClr val="accent2"/>
          </a:solidFill>
          <a:ln w="25400">
            <a:solidFill>
              <a:srgbClr val="FFFFFF"/>
            </a:solidFill>
            <a:prstDash val="solid"/>
          </a:ln>
        </p:spPr>
      </p:sp>
      <p:sp>
        <p:nvSpPr>
          <p:cNvPr id="8" name="Text 6"/>
          <p:cNvSpPr txBox="1"/>
          <p:nvPr/>
        </p:nvSpPr>
        <p:spPr>
          <a:xfrm>
            <a:off x="868680" y="1600200"/>
            <a:ext cx="1097280" cy="365760"/>
          </a:xfrm>
          <a:prstGeom prst="rect">
            <a:avLst/>
          </a:prstGeom>
          <a:noFill/>
          <a:ln/>
        </p:spPr>
        <p:txBody>
          <a:bodyPr wrap="square" lIns="0" tIns="0" rIns="0" bIns="0" rtlCol="0" anchor="ctr"/>
          <a:lstStyle/>
          <a:p>
            <a:pPr algn="ctr" indent="0" marL="0">
              <a:buNone/>
            </a:pPr>
            <a:r>
              <a:rPr lang="en-US" sz="1400" b="1" dirty="0">
                <a:solidFill>
                  <a:srgbClr val="314F65"/>
                </a:solidFill>
              </a:rPr>
              <a:t>[Date]</a:t>
            </a:r>
            <a:endParaRPr lang="en-US" sz="1400" dirty="0"/>
          </a:p>
        </p:txBody>
      </p:sp>
      <p:sp>
        <p:nvSpPr>
          <p:cNvPr id="9" name="Milestone card"/>
          <p:cNvSpPr/>
          <p:nvPr/>
        </p:nvSpPr>
        <p:spPr>
          <a:xfrm>
            <a:off x="502920" y="2743200"/>
            <a:ext cx="1828800" cy="1463040"/>
          </a:xfrm>
          <a:prstGeom prst="roundRect">
            <a:avLst>
              <a:gd name="adj" fmla="val 5000"/>
            </a:avLst>
          </a:prstGeom>
          <a:solidFill>
            <a:schemeClr val="bg2"/>
          </a:solidFill>
          <a:ln/>
        </p:spPr>
      </p:sp>
      <p:sp>
        <p:nvSpPr>
          <p:cNvPr id="10" name="Text 8"/>
          <p:cNvSpPr txBox="1"/>
          <p:nvPr/>
        </p:nvSpPr>
        <p:spPr>
          <a:xfrm>
            <a:off x="548640" y="2834640"/>
            <a:ext cx="1737360" cy="1280160"/>
          </a:xfrm>
          <a:prstGeom prst="rect">
            <a:avLst/>
          </a:prstGeom>
          <a:noFill/>
          <a:ln/>
        </p:spPr>
        <p:txBody>
          <a:bodyPr wrap="square" lIns="0" tIns="0" rIns="0" bIns="0" rtlCol="0" anchor="t"/>
          <a:lstStyle/>
          <a:p>
            <a:pPr indent="0" marL="0">
              <a:buNone/>
            </a:pPr>
            <a:r>
              <a:rPr lang="en-US" sz="1300" b="1" dirty="0">
                <a:solidFill>
                  <a:srgbClr val="314F65"/>
                </a:solidFill>
              </a:rPr>
              <a:t>Milestone 1</a:t>
            </a:r>
            <a:endParaRPr lang="en-US" sz="1300" dirty="0"/>
          </a:p>
          <a:p>
            <a:pPr indent="0" marL="0">
              <a:buNone/>
            </a:pPr>
            <a:r>
              <a:rPr lang="en-US" sz="1300" i="1" dirty="0">
                <a:solidFill>
                  <a:schemeClr val="accent5"/>
                </a:solidFill>
              </a:rPr>
              <a:t>[What will be achieved]</a:t>
            </a:r>
            <a:endParaRPr lang="en-US" sz="1300" dirty="0"/>
          </a:p>
        </p:txBody>
      </p:sp>
      <p:sp>
        <p:nvSpPr>
          <p:cNvPr id="11" name="Shape 9"/>
          <p:cNvSpPr/>
          <p:nvPr/>
        </p:nvSpPr>
        <p:spPr>
          <a:xfrm>
            <a:off x="3364992" y="2176272"/>
            <a:ext cx="310896" cy="310896"/>
          </a:xfrm>
          <a:prstGeom prst="ellipse">
            <a:avLst/>
          </a:prstGeom>
          <a:solidFill>
            <a:schemeClr val="tx2"/>
          </a:solidFill>
          <a:ln w="25400">
            <a:solidFill>
              <a:srgbClr val="FFFFFF"/>
            </a:solidFill>
            <a:prstDash val="solid"/>
          </a:ln>
        </p:spPr>
      </p:sp>
      <p:sp>
        <p:nvSpPr>
          <p:cNvPr id="12" name="Text 10"/>
          <p:cNvSpPr txBox="1"/>
          <p:nvPr/>
        </p:nvSpPr>
        <p:spPr>
          <a:xfrm>
            <a:off x="2971800" y="1600200"/>
            <a:ext cx="1097280" cy="365760"/>
          </a:xfrm>
          <a:prstGeom prst="rect">
            <a:avLst/>
          </a:prstGeom>
          <a:noFill/>
          <a:ln/>
        </p:spPr>
        <p:txBody>
          <a:bodyPr wrap="square" lIns="0" tIns="0" rIns="0" bIns="0" rtlCol="0" anchor="ctr"/>
          <a:lstStyle/>
          <a:p>
            <a:pPr algn="ctr" indent="0" marL="0">
              <a:buNone/>
            </a:pPr>
            <a:r>
              <a:rPr lang="en-US" sz="1400" b="1" dirty="0">
                <a:solidFill>
                  <a:srgbClr val="314F65"/>
                </a:solidFill>
              </a:rPr>
              <a:t>[Date]</a:t>
            </a:r>
            <a:endParaRPr lang="en-US" sz="1400" dirty="0"/>
          </a:p>
        </p:txBody>
      </p:sp>
      <p:sp>
        <p:nvSpPr>
          <p:cNvPr id="13" name="Milestone card"/>
          <p:cNvSpPr/>
          <p:nvPr/>
        </p:nvSpPr>
        <p:spPr>
          <a:xfrm>
            <a:off x="2606040" y="2743200"/>
            <a:ext cx="1828800" cy="1463040"/>
          </a:xfrm>
          <a:prstGeom prst="roundRect">
            <a:avLst>
              <a:gd name="adj" fmla="val 5000"/>
            </a:avLst>
          </a:prstGeom>
          <a:solidFill>
            <a:schemeClr val="bg2"/>
          </a:solidFill>
          <a:ln/>
        </p:spPr>
      </p:sp>
      <p:sp>
        <p:nvSpPr>
          <p:cNvPr id="14" name="Text 12"/>
          <p:cNvSpPr txBox="1"/>
          <p:nvPr/>
        </p:nvSpPr>
        <p:spPr>
          <a:xfrm>
            <a:off x="2651760" y="2834640"/>
            <a:ext cx="1737360" cy="1280160"/>
          </a:xfrm>
          <a:prstGeom prst="rect">
            <a:avLst/>
          </a:prstGeom>
          <a:noFill/>
          <a:ln/>
        </p:spPr>
        <p:txBody>
          <a:bodyPr wrap="square" lIns="0" tIns="0" rIns="0" bIns="0" rtlCol="0" anchor="t"/>
          <a:lstStyle/>
          <a:p>
            <a:pPr indent="0" marL="0">
              <a:buNone/>
            </a:pPr>
            <a:r>
              <a:rPr lang="en-US" sz="1300" b="1" dirty="0">
                <a:solidFill>
                  <a:srgbClr val="314F65"/>
                </a:solidFill>
              </a:rPr>
              <a:t>Milestone 2</a:t>
            </a:r>
            <a:endParaRPr lang="en-US" sz="1300" dirty="0"/>
          </a:p>
          <a:p>
            <a:pPr indent="0" marL="0">
              <a:buNone/>
            </a:pPr>
            <a:r>
              <a:rPr lang="en-US" sz="1300" i="1" dirty="0">
                <a:solidFill>
                  <a:schemeClr val="accent5"/>
                </a:solidFill>
              </a:rPr>
              <a:t>[What will be achieved]</a:t>
            </a:r>
            <a:endParaRPr lang="en-US" sz="1300" dirty="0"/>
          </a:p>
        </p:txBody>
      </p:sp>
      <p:sp>
        <p:nvSpPr>
          <p:cNvPr id="15" name="Shape 13"/>
          <p:cNvSpPr/>
          <p:nvPr/>
        </p:nvSpPr>
        <p:spPr>
          <a:xfrm>
            <a:off x="5468112" y="2176272"/>
            <a:ext cx="310896" cy="310896"/>
          </a:xfrm>
          <a:prstGeom prst="ellipse">
            <a:avLst/>
          </a:prstGeom>
          <a:solidFill>
            <a:schemeClr val="tx2"/>
          </a:solidFill>
          <a:ln w="25400">
            <a:solidFill>
              <a:srgbClr val="FFFFFF"/>
            </a:solidFill>
            <a:prstDash val="solid"/>
          </a:ln>
        </p:spPr>
      </p:sp>
      <p:sp>
        <p:nvSpPr>
          <p:cNvPr id="16" name="Text 14"/>
          <p:cNvSpPr txBox="1"/>
          <p:nvPr/>
        </p:nvSpPr>
        <p:spPr>
          <a:xfrm>
            <a:off x="5074920" y="1600200"/>
            <a:ext cx="1097280" cy="365760"/>
          </a:xfrm>
          <a:prstGeom prst="rect">
            <a:avLst/>
          </a:prstGeom>
          <a:noFill/>
          <a:ln/>
        </p:spPr>
        <p:txBody>
          <a:bodyPr wrap="square" lIns="0" tIns="0" rIns="0" bIns="0" rtlCol="0" anchor="ctr"/>
          <a:lstStyle/>
          <a:p>
            <a:pPr algn="ctr" indent="0" marL="0">
              <a:buNone/>
            </a:pPr>
            <a:r>
              <a:rPr lang="en-US" sz="1400" b="1" dirty="0">
                <a:solidFill>
                  <a:srgbClr val="314F65"/>
                </a:solidFill>
              </a:rPr>
              <a:t>[Date]</a:t>
            </a:r>
            <a:endParaRPr lang="en-US" sz="1400" dirty="0"/>
          </a:p>
        </p:txBody>
      </p:sp>
      <p:sp>
        <p:nvSpPr>
          <p:cNvPr id="17" name="Milestone card"/>
          <p:cNvSpPr/>
          <p:nvPr/>
        </p:nvSpPr>
        <p:spPr>
          <a:xfrm>
            <a:off x="4709160" y="2743200"/>
            <a:ext cx="1828800" cy="1463040"/>
          </a:xfrm>
          <a:prstGeom prst="roundRect">
            <a:avLst>
              <a:gd name="adj" fmla="val 5000"/>
            </a:avLst>
          </a:prstGeom>
          <a:solidFill>
            <a:schemeClr val="bg2"/>
          </a:solidFill>
          <a:ln/>
        </p:spPr>
      </p:sp>
      <p:sp>
        <p:nvSpPr>
          <p:cNvPr id="18" name="Text 16"/>
          <p:cNvSpPr txBox="1"/>
          <p:nvPr/>
        </p:nvSpPr>
        <p:spPr>
          <a:xfrm>
            <a:off x="4754880" y="2834640"/>
            <a:ext cx="1737360" cy="1280160"/>
          </a:xfrm>
          <a:prstGeom prst="rect">
            <a:avLst/>
          </a:prstGeom>
          <a:noFill/>
          <a:ln/>
        </p:spPr>
        <p:txBody>
          <a:bodyPr wrap="square" lIns="0" tIns="0" rIns="0" bIns="0" rtlCol="0" anchor="t"/>
          <a:lstStyle/>
          <a:p>
            <a:pPr indent="0" marL="0">
              <a:buNone/>
            </a:pPr>
            <a:r>
              <a:rPr lang="en-US" sz="1300" b="1" dirty="0">
                <a:solidFill>
                  <a:srgbClr val="314F65"/>
                </a:solidFill>
              </a:rPr>
              <a:t>Milestone 3</a:t>
            </a:r>
            <a:endParaRPr lang="en-US" sz="1300" dirty="0"/>
          </a:p>
          <a:p>
            <a:pPr indent="0" marL="0">
              <a:buNone/>
            </a:pPr>
            <a:r>
              <a:rPr lang="en-US" sz="1300" i="1" dirty="0">
                <a:solidFill>
                  <a:schemeClr val="accent5"/>
                </a:solidFill>
              </a:rPr>
              <a:t>[What will be achieved]</a:t>
            </a:r>
            <a:endParaRPr lang="en-US" sz="1300" dirty="0"/>
          </a:p>
        </p:txBody>
      </p:sp>
      <p:sp>
        <p:nvSpPr>
          <p:cNvPr id="19" name="Shape 17"/>
          <p:cNvSpPr/>
          <p:nvPr/>
        </p:nvSpPr>
        <p:spPr>
          <a:xfrm>
            <a:off x="7571232" y="2176272"/>
            <a:ext cx="310896" cy="310896"/>
          </a:xfrm>
          <a:prstGeom prst="ellipse">
            <a:avLst/>
          </a:prstGeom>
          <a:solidFill>
            <a:schemeClr val="tx2"/>
          </a:solidFill>
          <a:ln w="25400">
            <a:solidFill>
              <a:srgbClr val="FFFFFF"/>
            </a:solidFill>
            <a:prstDash val="solid"/>
          </a:ln>
        </p:spPr>
      </p:sp>
      <p:sp>
        <p:nvSpPr>
          <p:cNvPr id="20" name="Text 18"/>
          <p:cNvSpPr txBox="1"/>
          <p:nvPr/>
        </p:nvSpPr>
        <p:spPr>
          <a:xfrm>
            <a:off x="7178040" y="1600200"/>
            <a:ext cx="1097280" cy="365760"/>
          </a:xfrm>
          <a:prstGeom prst="rect">
            <a:avLst/>
          </a:prstGeom>
          <a:noFill/>
          <a:ln/>
        </p:spPr>
        <p:txBody>
          <a:bodyPr wrap="square" lIns="0" tIns="0" rIns="0" bIns="0" rtlCol="0" anchor="ctr"/>
          <a:lstStyle/>
          <a:p>
            <a:pPr algn="ctr" indent="0" marL="0">
              <a:buNone/>
            </a:pPr>
            <a:r>
              <a:rPr lang="en-US" sz="1400" b="1" dirty="0">
                <a:solidFill>
                  <a:srgbClr val="314F65"/>
                </a:solidFill>
              </a:rPr>
              <a:t>[Date]</a:t>
            </a:r>
            <a:endParaRPr lang="en-US" sz="1400" dirty="0"/>
          </a:p>
        </p:txBody>
      </p:sp>
      <p:sp>
        <p:nvSpPr>
          <p:cNvPr id="21" name="Milestone card"/>
          <p:cNvSpPr/>
          <p:nvPr/>
        </p:nvSpPr>
        <p:spPr>
          <a:xfrm>
            <a:off x="6812280" y="2743200"/>
            <a:ext cx="1828800" cy="1463040"/>
          </a:xfrm>
          <a:prstGeom prst="roundRect">
            <a:avLst>
              <a:gd name="adj" fmla="val 5000"/>
            </a:avLst>
          </a:prstGeom>
          <a:solidFill>
            <a:schemeClr val="bg2"/>
          </a:solidFill>
          <a:ln/>
        </p:spPr>
      </p:sp>
      <p:sp>
        <p:nvSpPr>
          <p:cNvPr id="22" name="Text 20"/>
          <p:cNvSpPr txBox="1"/>
          <p:nvPr/>
        </p:nvSpPr>
        <p:spPr>
          <a:xfrm>
            <a:off x="6858000" y="2834640"/>
            <a:ext cx="1737360" cy="1280160"/>
          </a:xfrm>
          <a:prstGeom prst="rect">
            <a:avLst/>
          </a:prstGeom>
          <a:noFill/>
          <a:ln/>
        </p:spPr>
        <p:txBody>
          <a:bodyPr wrap="square" lIns="0" tIns="0" rIns="0" bIns="0" rtlCol="0" anchor="t"/>
          <a:lstStyle/>
          <a:p>
            <a:pPr indent="0" marL="0">
              <a:buNone/>
            </a:pPr>
            <a:r>
              <a:rPr lang="en-US" sz="1300" b="1" dirty="0">
                <a:solidFill>
                  <a:srgbClr val="314F65"/>
                </a:solidFill>
              </a:rPr>
              <a:t>Milestone 4</a:t>
            </a:r>
            <a:endParaRPr lang="en-US" sz="1300" dirty="0"/>
          </a:p>
          <a:p>
            <a:pPr indent="0" marL="0">
              <a:buNone/>
            </a:pPr>
            <a:r>
              <a:rPr lang="en-US" sz="1300" i="1" dirty="0">
                <a:solidFill>
                  <a:schemeClr val="accent5"/>
                </a:solidFill>
              </a:rPr>
              <a:t>[What will be achieved]</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766560" cy="685800"/>
          </a:xfrm>
          <a:prstGeom prst="rect">
            <a:avLst/>
          </a:prstGeom>
          <a:noFill/>
          <a:ln/>
        </p:spPr>
        <p:txBody>
          <a:bodyPr wrap="square" lIns="0" tIns="0" rIns="0" bIns="0" rtlCol="0" anchor="ctr"/>
          <a:lstStyle/>
          <a:p>
            <a:pPr algn="l" indent="0" marL="0">
              <a:buNone/>
            </a:pPr>
            <a:r>
              <a:rPr lang="en-US" sz="2600" b="1" dirty="0">
                <a:solidFill>
                  <a:schemeClr val="bg1"/>
                </a:solidFill>
              </a:rPr>
              <a:t>What we are looking for</a:t>
            </a:r>
            <a:endParaRPr lang="en-US" sz="2600" dirty="0"/>
          </a:p>
        </p:txBody>
      </p:sp>
      <p:sp>
        <p:nvSpPr>
          <p:cNvPr id="3" name="Timing chip"/>
          <p:cNvSpPr/>
          <p:nvPr/>
        </p:nvSpPr>
        <p:spPr>
          <a:xfrm>
            <a:off x="7315200" y="429768"/>
            <a:ext cx="1371600" cy="384048"/>
          </a:xfrm>
          <a:prstGeom prst="roundRect">
            <a:avLst>
              <a:gd name="adj" fmla="val 50000"/>
            </a:avLst>
          </a:prstGeom>
          <a:solidFill>
            <a:schemeClr val="accent2"/>
          </a:solidFill>
          <a:ln/>
        </p:spPr>
      </p:sp>
      <p:sp>
        <p:nvSpPr>
          <p:cNvPr id="4" name="Timing"/>
          <p:cNvSpPr txBox="1"/>
          <p:nvPr/>
        </p:nvSpPr>
        <p:spPr>
          <a:xfrm>
            <a:off x="7315200" y="429768"/>
            <a:ext cx="1371600" cy="384048"/>
          </a:xfrm>
          <a:prstGeom prst="rect">
            <a:avLst/>
          </a:prstGeom>
          <a:noFill/>
          <a:ln/>
        </p:spPr>
        <p:txBody>
          <a:bodyPr wrap="square" lIns="0" tIns="0" rIns="0" bIns="0" rtlCol="0" anchor="ctr"/>
          <a:lstStyle/>
          <a:p>
            <a:pPr algn="ctr" indent="0" marL="0">
              <a:buNone/>
            </a:pPr>
            <a:r>
              <a:rPr lang="en-US" sz="1300" b="1" dirty="0">
                <a:solidFill>
                  <a:schemeClr val="tx2"/>
                </a:solidFill>
              </a:rPr>
              <a:t>10 s</a:t>
            </a:r>
            <a:endParaRPr lang="en-US" sz="1300" dirty="0"/>
          </a:p>
        </p:txBody>
      </p:sp>
      <p:sp>
        <p:nvSpPr>
          <p:cNvPr id="5" name="Section label"/>
          <p:cNvSpPr txBox="1"/>
          <p:nvPr/>
        </p:nvSpPr>
        <p:spPr>
          <a:xfrm>
            <a:off x="457200" y="109728"/>
            <a:ext cx="4572000" cy="256032"/>
          </a:xfrm>
          <a:prstGeom prst="rect">
            <a:avLst/>
          </a:prstGeom>
          <a:noFill/>
          <a:ln/>
        </p:spPr>
        <p:txBody>
          <a:bodyPr wrap="square" lIns="0" tIns="0" rIns="0" bIns="0" rtlCol="0" anchor="ctr"/>
          <a:lstStyle/>
          <a:p>
            <a:pPr indent="0" marL="0">
              <a:buNone/>
            </a:pPr>
            <a:r>
              <a:rPr lang="en-US" sz="1100" b="1" spc="100" kern="0" dirty="0">
                <a:solidFill>
                  <a:schemeClr val="accent2"/>
                </a:solidFill>
                <a:latin typeface="+mj-lt" pitchFamily="34" charset="0"/>
                <a:ea typeface="+mj-lt" pitchFamily="34" charset="-122"/>
                <a:cs typeface="+mj-lt" pitchFamily="34" charset="-120"/>
              </a:rPr>
              <a:t>12 · THE ASK &amp; CLOSING LINE</a:t>
            </a:r>
            <a:endParaRPr lang="en-US" sz="1100" dirty="0"/>
          </a:p>
        </p:txBody>
      </p:sp>
      <p:sp>
        <p:nvSpPr>
          <p:cNvPr id="6" name="Ask card"/>
          <p:cNvSpPr/>
          <p:nvPr/>
        </p:nvSpPr>
        <p:spPr>
          <a:xfrm>
            <a:off x="457200" y="1325880"/>
            <a:ext cx="2560320" cy="1097280"/>
          </a:xfrm>
          <a:prstGeom prst="roundRect">
            <a:avLst>
              <a:gd name="adj" fmla="val 6667"/>
            </a:avLst>
          </a:prstGeom>
          <a:solidFill>
            <a:schemeClr val="accent3"/>
          </a:solidFill>
          <a:ln/>
        </p:spPr>
      </p:sp>
      <p:sp>
        <p:nvSpPr>
          <p:cNvPr id="7" name="Icon circle"/>
          <p:cNvSpPr/>
          <p:nvPr/>
        </p:nvSpPr>
        <p:spPr>
          <a:xfrm>
            <a:off x="640080" y="1554480"/>
            <a:ext cx="640080" cy="640080"/>
          </a:xfrm>
          <a:prstGeom prst="ellipse">
            <a:avLst/>
          </a:prstGeom>
          <a:solidFill>
            <a:schemeClr val="accent2"/>
          </a:solidFill>
          <a:ln/>
        </p:spPr>
      </p:sp>
      <p:pic>
        <p:nvPicPr>
          <p:cNvPr id="8" name="Image 0" descr="icon">    </p:cNvPr>
          <p:cNvPicPr>
            <a:picLocks noChangeAspect="1"/>
          </p:cNvPicPr>
          <p:nvPr/>
        </p:nvPicPr>
        <p:blipFill>
          <a:blip r:embed="rId1"/>
          <a:stretch>
            <a:fillRect/>
          </a:stretch>
        </p:blipFill>
        <p:spPr>
          <a:xfrm>
            <a:off x="800100" y="1714500"/>
            <a:ext cx="320040" cy="320040"/>
          </a:xfrm>
          <a:prstGeom prst="rect">
            <a:avLst/>
          </a:prstGeom>
        </p:spPr>
      </p:pic>
      <p:sp>
        <p:nvSpPr>
          <p:cNvPr id="9" name="Text 6"/>
          <p:cNvSpPr txBox="1"/>
          <p:nvPr/>
        </p:nvSpPr>
        <p:spPr>
          <a:xfrm>
            <a:off x="1417320" y="1371600"/>
            <a:ext cx="1508760" cy="1005840"/>
          </a:xfrm>
          <a:prstGeom prst="rect">
            <a:avLst/>
          </a:prstGeom>
          <a:noFill/>
          <a:ln/>
        </p:spPr>
        <p:txBody>
          <a:bodyPr wrap="square" lIns="0" tIns="0" rIns="0" bIns="0" rtlCol="0" anchor="ctr"/>
          <a:lstStyle/>
          <a:p>
            <a:pPr indent="0" marL="0">
              <a:buNone/>
            </a:pPr>
            <a:r>
              <a:rPr lang="en-US" sz="1300" i="1" dirty="0">
                <a:solidFill>
                  <a:srgbClr val="FFFFFF"/>
                </a:solidFill>
              </a:rPr>
              <a:t>[Funding: amount and use]</a:t>
            </a:r>
            <a:endParaRPr lang="en-US" sz="1300" dirty="0"/>
          </a:p>
        </p:txBody>
      </p:sp>
      <p:sp>
        <p:nvSpPr>
          <p:cNvPr id="10" name="Ask card"/>
          <p:cNvSpPr/>
          <p:nvPr/>
        </p:nvSpPr>
        <p:spPr>
          <a:xfrm>
            <a:off x="3291840" y="1325880"/>
            <a:ext cx="2560320" cy="1097280"/>
          </a:xfrm>
          <a:prstGeom prst="roundRect">
            <a:avLst>
              <a:gd name="adj" fmla="val 6667"/>
            </a:avLst>
          </a:prstGeom>
          <a:solidFill>
            <a:schemeClr val="accent3"/>
          </a:solidFill>
          <a:ln/>
        </p:spPr>
      </p:sp>
      <p:sp>
        <p:nvSpPr>
          <p:cNvPr id="11" name="Icon circle"/>
          <p:cNvSpPr/>
          <p:nvPr/>
        </p:nvSpPr>
        <p:spPr>
          <a:xfrm>
            <a:off x="3474720" y="1554480"/>
            <a:ext cx="640080" cy="640080"/>
          </a:xfrm>
          <a:prstGeom prst="ellipse">
            <a:avLst/>
          </a:prstGeom>
          <a:solidFill>
            <a:schemeClr val="accent2"/>
          </a:solidFill>
          <a:ln/>
        </p:spPr>
      </p:sp>
      <p:pic>
        <p:nvPicPr>
          <p:cNvPr id="12" name="Image 1" descr="icon">    </p:cNvPr>
          <p:cNvPicPr>
            <a:picLocks noChangeAspect="1"/>
          </p:cNvPicPr>
          <p:nvPr/>
        </p:nvPicPr>
        <p:blipFill>
          <a:blip r:embed="rId2"/>
          <a:stretch>
            <a:fillRect/>
          </a:stretch>
        </p:blipFill>
        <p:spPr>
          <a:xfrm>
            <a:off x="3634740" y="1714500"/>
            <a:ext cx="320040" cy="320040"/>
          </a:xfrm>
          <a:prstGeom prst="rect">
            <a:avLst/>
          </a:prstGeom>
        </p:spPr>
      </p:pic>
      <p:sp>
        <p:nvSpPr>
          <p:cNvPr id="13" name="Text 9"/>
          <p:cNvSpPr txBox="1"/>
          <p:nvPr/>
        </p:nvSpPr>
        <p:spPr>
          <a:xfrm>
            <a:off x="4251960" y="1371600"/>
            <a:ext cx="1508760" cy="1005840"/>
          </a:xfrm>
          <a:prstGeom prst="rect">
            <a:avLst/>
          </a:prstGeom>
          <a:noFill/>
          <a:ln/>
        </p:spPr>
        <p:txBody>
          <a:bodyPr wrap="square" lIns="0" tIns="0" rIns="0" bIns="0" rtlCol="0" anchor="ctr"/>
          <a:lstStyle/>
          <a:p>
            <a:pPr indent="0" marL="0">
              <a:buNone/>
            </a:pPr>
            <a:r>
              <a:rPr lang="en-US" sz="1300" i="1" dirty="0">
                <a:solidFill>
                  <a:srgbClr val="FFFFFF"/>
                </a:solidFill>
              </a:rPr>
              <a:t>[Partners or pilots]</a:t>
            </a:r>
            <a:endParaRPr lang="en-US" sz="1300" dirty="0"/>
          </a:p>
        </p:txBody>
      </p:sp>
      <p:sp>
        <p:nvSpPr>
          <p:cNvPr id="14" name="Ask card"/>
          <p:cNvSpPr/>
          <p:nvPr/>
        </p:nvSpPr>
        <p:spPr>
          <a:xfrm>
            <a:off x="6126480" y="1325880"/>
            <a:ext cx="2560320" cy="1097280"/>
          </a:xfrm>
          <a:prstGeom prst="roundRect">
            <a:avLst>
              <a:gd name="adj" fmla="val 6667"/>
            </a:avLst>
          </a:prstGeom>
          <a:solidFill>
            <a:schemeClr val="accent3"/>
          </a:solidFill>
          <a:ln/>
        </p:spPr>
      </p:sp>
      <p:sp>
        <p:nvSpPr>
          <p:cNvPr id="15" name="Icon circle"/>
          <p:cNvSpPr/>
          <p:nvPr/>
        </p:nvSpPr>
        <p:spPr>
          <a:xfrm>
            <a:off x="6309360" y="1554480"/>
            <a:ext cx="640080" cy="640080"/>
          </a:xfrm>
          <a:prstGeom prst="ellipse">
            <a:avLst/>
          </a:prstGeom>
          <a:solidFill>
            <a:schemeClr val="accent2"/>
          </a:solidFill>
          <a:ln/>
        </p:spPr>
      </p:sp>
      <p:pic>
        <p:nvPicPr>
          <p:cNvPr id="16" name="Image 2" descr="icon">    </p:cNvPr>
          <p:cNvPicPr>
            <a:picLocks noChangeAspect="1"/>
          </p:cNvPicPr>
          <p:nvPr/>
        </p:nvPicPr>
        <p:blipFill>
          <a:blip r:embed="rId3"/>
          <a:stretch>
            <a:fillRect/>
          </a:stretch>
        </p:blipFill>
        <p:spPr>
          <a:xfrm>
            <a:off x="6469380" y="1714500"/>
            <a:ext cx="320040" cy="320040"/>
          </a:xfrm>
          <a:prstGeom prst="rect">
            <a:avLst/>
          </a:prstGeom>
        </p:spPr>
      </p:pic>
      <p:sp>
        <p:nvSpPr>
          <p:cNvPr id="17" name="Text 12"/>
          <p:cNvSpPr txBox="1"/>
          <p:nvPr/>
        </p:nvSpPr>
        <p:spPr>
          <a:xfrm>
            <a:off x="7086600" y="1371600"/>
            <a:ext cx="1508760" cy="1005840"/>
          </a:xfrm>
          <a:prstGeom prst="rect">
            <a:avLst/>
          </a:prstGeom>
          <a:noFill/>
          <a:ln/>
        </p:spPr>
        <p:txBody>
          <a:bodyPr wrap="square" lIns="0" tIns="0" rIns="0" bIns="0" rtlCol="0" anchor="ctr"/>
          <a:lstStyle/>
          <a:p>
            <a:pPr indent="0" marL="0">
              <a:buNone/>
            </a:pPr>
            <a:r>
              <a:rPr lang="en-US" sz="1300" i="1" dirty="0">
                <a:solidFill>
                  <a:srgbClr val="FFFFFF"/>
                </a:solidFill>
              </a:rPr>
              <a:t>[Mentoring or feedback]</a:t>
            </a:r>
            <a:endParaRPr lang="en-US" sz="1300" dirty="0"/>
          </a:p>
        </p:txBody>
      </p:sp>
      <p:sp>
        <p:nvSpPr>
          <p:cNvPr id="18" name="Closing line"/>
          <p:cNvSpPr txBox="1"/>
          <p:nvPr/>
        </p:nvSpPr>
        <p:spPr>
          <a:xfrm>
            <a:off x="457200" y="2743200"/>
            <a:ext cx="8229600" cy="1188720"/>
          </a:xfrm>
          <a:prstGeom prst="rect">
            <a:avLst/>
          </a:prstGeom>
          <a:noFill/>
          <a:ln/>
        </p:spPr>
        <p:txBody>
          <a:bodyPr wrap="square" lIns="0" tIns="0" rIns="0" bIns="0" rtlCol="0" anchor="ctr"/>
          <a:lstStyle/>
          <a:p>
            <a:pPr indent="0" marL="0">
              <a:buNone/>
            </a:pPr>
            <a:r>
              <a:rPr lang="en-US" sz="2600" b="1" dirty="0">
                <a:solidFill>
                  <a:srgbClr val="FFFFFF"/>
                </a:solidFill>
                <a:latin typeface="+mj-lt" pitchFamily="34" charset="0"/>
                <a:ea typeface="+mj-lt" pitchFamily="34" charset="-122"/>
                <a:cs typeface="+mj-lt" pitchFamily="34" charset="-120"/>
              </a:rPr>
              <a:t>“[The one sentence you want the jury to remember]”</a:t>
            </a:r>
            <a:endParaRPr lang="en-US" sz="2600" dirty="0"/>
          </a:p>
        </p:txBody>
      </p:sp>
      <p:sp>
        <p:nvSpPr>
          <p:cNvPr id="19" name="Text 14"/>
          <p:cNvSpPr txBox="1"/>
          <p:nvPr/>
        </p:nvSpPr>
        <p:spPr>
          <a:xfrm>
            <a:off x="457200" y="4160520"/>
            <a:ext cx="8229600" cy="320040"/>
          </a:xfrm>
          <a:prstGeom prst="rect">
            <a:avLst/>
          </a:prstGeom>
          <a:noFill/>
          <a:ln/>
        </p:spPr>
        <p:txBody>
          <a:bodyPr wrap="square" lIns="0" tIns="0" rIns="0" bIns="0" rtlCol="0" anchor="ctr"/>
          <a:lstStyle/>
          <a:p>
            <a:pPr indent="0" marL="0">
              <a:buNone/>
            </a:pPr>
            <a:r>
              <a:rPr lang="en-US" sz="1200" dirty="0">
                <a:solidFill>
                  <a:schemeClr val="accent4"/>
                </a:solidFill>
              </a:rPr>
              <a:t>[Contact email] · [Website / wiki] · [Social media]</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766560" cy="685800"/>
          </a:xfrm>
          <a:prstGeom prst="rect">
            <a:avLst/>
          </a:prstGeom>
          <a:noFill/>
          <a:ln/>
        </p:spPr>
        <p:txBody>
          <a:bodyPr wrap="square" lIns="0" tIns="0" rIns="0" bIns="0" rtlCol="0" anchor="ctr"/>
          <a:lstStyle/>
          <a:p>
            <a:pPr algn="l" indent="0" marL="0">
              <a:buNone/>
            </a:pPr>
            <a:r>
              <a:rPr lang="en-US" sz="2600" b="1" dirty="0">
                <a:solidFill>
                  <a:schemeClr val="bg1"/>
                </a:solidFill>
              </a:rPr>
              <a:t>Annex</a:t>
            </a:r>
            <a:endParaRPr lang="en-US" sz="2600" dirty="0"/>
          </a:p>
        </p:txBody>
      </p:sp>
      <p:sp>
        <p:nvSpPr>
          <p:cNvPr id="3" name="Timing chip"/>
          <p:cNvSpPr/>
          <p:nvPr/>
        </p:nvSpPr>
        <p:spPr>
          <a:xfrm>
            <a:off x="7315200" y="429768"/>
            <a:ext cx="1371600" cy="384048"/>
          </a:xfrm>
          <a:prstGeom prst="roundRect">
            <a:avLst>
              <a:gd name="adj" fmla="val 50000"/>
            </a:avLst>
          </a:prstGeom>
          <a:solidFill>
            <a:schemeClr val="accent2"/>
          </a:solidFill>
          <a:ln/>
        </p:spPr>
      </p:sp>
      <p:sp>
        <p:nvSpPr>
          <p:cNvPr id="4" name="Timing"/>
          <p:cNvSpPr txBox="1"/>
          <p:nvPr/>
        </p:nvSpPr>
        <p:spPr>
          <a:xfrm>
            <a:off x="7315200" y="429768"/>
            <a:ext cx="1371600" cy="384048"/>
          </a:xfrm>
          <a:prstGeom prst="rect">
            <a:avLst/>
          </a:prstGeom>
          <a:noFill/>
          <a:ln/>
        </p:spPr>
        <p:txBody>
          <a:bodyPr wrap="square" lIns="0" tIns="0" rIns="0" bIns="0" rtlCol="0" anchor="ctr"/>
          <a:lstStyle/>
          <a:p>
            <a:pPr algn="ctr" indent="0" marL="0">
              <a:buNone/>
            </a:pPr>
            <a:r>
              <a:rPr lang="en-US" sz="1300" b="1" dirty="0">
                <a:solidFill>
                  <a:schemeClr val="tx2"/>
                </a:solidFill>
              </a:rPr>
              <a:t>—</a:t>
            </a:r>
            <a:endParaRPr lang="en-US" sz="1300" dirty="0"/>
          </a:p>
        </p:txBody>
      </p:sp>
      <p:sp>
        <p:nvSpPr>
          <p:cNvPr id="5" name="Section label"/>
          <p:cNvSpPr txBox="1"/>
          <p:nvPr/>
        </p:nvSpPr>
        <p:spPr>
          <a:xfrm>
            <a:off x="457200" y="109728"/>
            <a:ext cx="4572000" cy="256032"/>
          </a:xfrm>
          <a:prstGeom prst="rect">
            <a:avLst/>
          </a:prstGeom>
          <a:noFill/>
          <a:ln/>
        </p:spPr>
        <p:txBody>
          <a:bodyPr wrap="square" lIns="0" tIns="0" rIns="0" bIns="0" rtlCol="0" anchor="ctr"/>
          <a:lstStyle/>
          <a:p>
            <a:pPr indent="0" marL="0">
              <a:buNone/>
            </a:pPr>
            <a:r>
              <a:rPr lang="en-US" sz="1100" b="1" spc="100" kern="0" dirty="0">
                <a:solidFill>
                  <a:schemeClr val="accent2"/>
                </a:solidFill>
                <a:latin typeface="+mj-lt" pitchFamily="34" charset="0"/>
                <a:ea typeface="+mj-lt" pitchFamily="34" charset="-122"/>
                <a:cs typeface="+mj-lt" pitchFamily="34" charset="-120"/>
              </a:rPr>
              <a:t>A · ANNEX · Q&amp;A ONLY</a:t>
            </a:r>
            <a:endParaRPr lang="en-US" sz="1100" dirty="0"/>
          </a:p>
        </p:txBody>
      </p:sp>
      <p:sp>
        <p:nvSpPr>
          <p:cNvPr id="6" name="Text 4"/>
          <p:cNvSpPr txBox="1"/>
          <p:nvPr/>
        </p:nvSpPr>
        <p:spPr>
          <a:xfrm>
            <a:off x="457200" y="1051560"/>
            <a:ext cx="8229600" cy="365760"/>
          </a:xfrm>
          <a:prstGeom prst="rect">
            <a:avLst/>
          </a:prstGeom>
          <a:noFill/>
          <a:ln/>
        </p:spPr>
        <p:txBody>
          <a:bodyPr wrap="square" lIns="0" tIns="0" rIns="0" bIns="0" rtlCol="0" anchor="ctr"/>
          <a:lstStyle/>
          <a:p>
            <a:pPr indent="0" marL="0">
              <a:buNone/>
            </a:pPr>
            <a:r>
              <a:rPr lang="en-US" sz="1600" dirty="0">
                <a:solidFill>
                  <a:schemeClr val="accent4"/>
                </a:solidFill>
              </a:rPr>
              <a:t>Backup slides for the questions you expect</a:t>
            </a:r>
            <a:endParaRPr lang="en-US" sz="1600" dirty="0"/>
          </a:p>
        </p:txBody>
      </p:sp>
      <p:sp>
        <p:nvSpPr>
          <p:cNvPr id="7" name="Annex topic"/>
          <p:cNvSpPr/>
          <p:nvPr/>
        </p:nvSpPr>
        <p:spPr>
          <a:xfrm>
            <a:off x="457200" y="1828800"/>
            <a:ext cx="1508760" cy="2011680"/>
          </a:xfrm>
          <a:prstGeom prst="roundRect">
            <a:avLst>
              <a:gd name="adj" fmla="val 4848"/>
            </a:avLst>
          </a:prstGeom>
          <a:solidFill>
            <a:schemeClr val="accent3"/>
          </a:solidFill>
          <a:ln/>
        </p:spPr>
      </p:sp>
      <p:sp>
        <p:nvSpPr>
          <p:cNvPr id="8" name="Icon circle"/>
          <p:cNvSpPr/>
          <p:nvPr/>
        </p:nvSpPr>
        <p:spPr>
          <a:xfrm>
            <a:off x="868680" y="2103120"/>
            <a:ext cx="685800" cy="685800"/>
          </a:xfrm>
          <a:prstGeom prst="ellipse">
            <a:avLst/>
          </a:prstGeom>
          <a:solidFill>
            <a:schemeClr val="accent2"/>
          </a:solidFill>
          <a:ln/>
        </p:spPr>
      </p:sp>
      <p:pic>
        <p:nvPicPr>
          <p:cNvPr id="9" name="Image 0" descr="icon">    </p:cNvPr>
          <p:cNvPicPr>
            <a:picLocks noChangeAspect="1"/>
          </p:cNvPicPr>
          <p:nvPr/>
        </p:nvPicPr>
        <p:blipFill>
          <a:blip r:embed="rId1"/>
          <a:stretch>
            <a:fillRect/>
          </a:stretch>
        </p:blipFill>
        <p:spPr>
          <a:xfrm>
            <a:off x="1040130" y="2274570"/>
            <a:ext cx="342900" cy="342900"/>
          </a:xfrm>
          <a:prstGeom prst="rect">
            <a:avLst/>
          </a:prstGeom>
        </p:spPr>
      </p:pic>
      <p:sp>
        <p:nvSpPr>
          <p:cNvPr id="10" name="Text 7"/>
          <p:cNvSpPr txBox="1"/>
          <p:nvPr/>
        </p:nvSpPr>
        <p:spPr>
          <a:xfrm>
            <a:off x="548640" y="2971800"/>
            <a:ext cx="1325880" cy="731520"/>
          </a:xfrm>
          <a:prstGeom prst="rect">
            <a:avLst/>
          </a:prstGeom>
          <a:noFill/>
          <a:ln/>
        </p:spPr>
        <p:txBody>
          <a:bodyPr wrap="square" lIns="0" tIns="0" rIns="0" bIns="0" rtlCol="0" anchor="t"/>
          <a:lstStyle/>
          <a:p>
            <a:pPr algn="ctr" indent="0" marL="0">
              <a:buNone/>
            </a:pPr>
            <a:r>
              <a:rPr lang="en-US" sz="1300" b="1" dirty="0">
                <a:solidFill>
                  <a:schemeClr val="bg1"/>
                </a:solidFill>
              </a:rPr>
              <a:t>Technical details</a:t>
            </a:r>
            <a:endParaRPr lang="en-US" sz="1300" dirty="0"/>
          </a:p>
        </p:txBody>
      </p:sp>
      <p:sp>
        <p:nvSpPr>
          <p:cNvPr id="11" name="Annex topic"/>
          <p:cNvSpPr/>
          <p:nvPr/>
        </p:nvSpPr>
        <p:spPr>
          <a:xfrm>
            <a:off x="2148840" y="1828800"/>
            <a:ext cx="1508760" cy="2011680"/>
          </a:xfrm>
          <a:prstGeom prst="roundRect">
            <a:avLst>
              <a:gd name="adj" fmla="val 4848"/>
            </a:avLst>
          </a:prstGeom>
          <a:solidFill>
            <a:schemeClr val="accent3"/>
          </a:solidFill>
          <a:ln/>
        </p:spPr>
      </p:sp>
      <p:sp>
        <p:nvSpPr>
          <p:cNvPr id="12" name="Icon circle"/>
          <p:cNvSpPr/>
          <p:nvPr/>
        </p:nvSpPr>
        <p:spPr>
          <a:xfrm>
            <a:off x="2560320" y="2103120"/>
            <a:ext cx="685800" cy="685800"/>
          </a:xfrm>
          <a:prstGeom prst="ellipse">
            <a:avLst/>
          </a:prstGeom>
          <a:solidFill>
            <a:schemeClr val="accent2"/>
          </a:solidFill>
          <a:ln/>
        </p:spPr>
      </p:sp>
      <p:pic>
        <p:nvPicPr>
          <p:cNvPr id="13" name="Image 1" descr="icon">    </p:cNvPr>
          <p:cNvPicPr>
            <a:picLocks noChangeAspect="1"/>
          </p:cNvPicPr>
          <p:nvPr/>
        </p:nvPicPr>
        <p:blipFill>
          <a:blip r:embed="rId2"/>
          <a:stretch>
            <a:fillRect/>
          </a:stretch>
        </p:blipFill>
        <p:spPr>
          <a:xfrm>
            <a:off x="2731770" y="2274570"/>
            <a:ext cx="342900" cy="342900"/>
          </a:xfrm>
          <a:prstGeom prst="rect">
            <a:avLst/>
          </a:prstGeom>
        </p:spPr>
      </p:pic>
      <p:sp>
        <p:nvSpPr>
          <p:cNvPr id="14" name="Text 10"/>
          <p:cNvSpPr txBox="1"/>
          <p:nvPr/>
        </p:nvSpPr>
        <p:spPr>
          <a:xfrm>
            <a:off x="2240280" y="2971800"/>
            <a:ext cx="1325880" cy="731520"/>
          </a:xfrm>
          <a:prstGeom prst="rect">
            <a:avLst/>
          </a:prstGeom>
          <a:noFill/>
          <a:ln/>
        </p:spPr>
        <p:txBody>
          <a:bodyPr wrap="square" lIns="0" tIns="0" rIns="0" bIns="0" rtlCol="0" anchor="t"/>
          <a:lstStyle/>
          <a:p>
            <a:pPr algn="ctr" indent="0" marL="0">
              <a:buNone/>
            </a:pPr>
            <a:r>
              <a:rPr lang="en-US" sz="1300" b="1" dirty="0">
                <a:solidFill>
                  <a:schemeClr val="bg1"/>
                </a:solidFill>
              </a:rPr>
              <a:t>Full data</a:t>
            </a:r>
            <a:endParaRPr lang="en-US" sz="1300" dirty="0"/>
          </a:p>
        </p:txBody>
      </p:sp>
      <p:sp>
        <p:nvSpPr>
          <p:cNvPr id="15" name="Annex topic"/>
          <p:cNvSpPr/>
          <p:nvPr/>
        </p:nvSpPr>
        <p:spPr>
          <a:xfrm>
            <a:off x="3840480" y="1828800"/>
            <a:ext cx="1508760" cy="2011680"/>
          </a:xfrm>
          <a:prstGeom prst="roundRect">
            <a:avLst>
              <a:gd name="adj" fmla="val 4848"/>
            </a:avLst>
          </a:prstGeom>
          <a:solidFill>
            <a:schemeClr val="accent3"/>
          </a:solidFill>
          <a:ln/>
        </p:spPr>
      </p:sp>
      <p:sp>
        <p:nvSpPr>
          <p:cNvPr id="16" name="Icon circle"/>
          <p:cNvSpPr/>
          <p:nvPr/>
        </p:nvSpPr>
        <p:spPr>
          <a:xfrm>
            <a:off x="4251960" y="2103120"/>
            <a:ext cx="685800" cy="685800"/>
          </a:xfrm>
          <a:prstGeom prst="ellipse">
            <a:avLst/>
          </a:prstGeom>
          <a:solidFill>
            <a:schemeClr val="accent2"/>
          </a:solidFill>
          <a:ln/>
        </p:spPr>
      </p:sp>
      <p:pic>
        <p:nvPicPr>
          <p:cNvPr id="17" name="Image 2" descr="icon">    </p:cNvPr>
          <p:cNvPicPr>
            <a:picLocks noChangeAspect="1"/>
          </p:cNvPicPr>
          <p:nvPr/>
        </p:nvPicPr>
        <p:blipFill>
          <a:blip r:embed="rId3"/>
          <a:stretch>
            <a:fillRect/>
          </a:stretch>
        </p:blipFill>
        <p:spPr>
          <a:xfrm>
            <a:off x="4423410" y="2274570"/>
            <a:ext cx="342900" cy="342900"/>
          </a:xfrm>
          <a:prstGeom prst="rect">
            <a:avLst/>
          </a:prstGeom>
        </p:spPr>
      </p:pic>
      <p:sp>
        <p:nvSpPr>
          <p:cNvPr id="18" name="Text 13"/>
          <p:cNvSpPr txBox="1"/>
          <p:nvPr/>
        </p:nvSpPr>
        <p:spPr>
          <a:xfrm>
            <a:off x="3931920" y="2971800"/>
            <a:ext cx="1325880" cy="731520"/>
          </a:xfrm>
          <a:prstGeom prst="rect">
            <a:avLst/>
          </a:prstGeom>
          <a:noFill/>
          <a:ln/>
        </p:spPr>
        <p:txBody>
          <a:bodyPr wrap="square" lIns="0" tIns="0" rIns="0" bIns="0" rtlCol="0" anchor="t"/>
          <a:lstStyle/>
          <a:p>
            <a:pPr algn="ctr" indent="0" marL="0">
              <a:buNone/>
            </a:pPr>
            <a:r>
              <a:rPr lang="en-US" sz="1300" b="1" dirty="0">
                <a:solidFill>
                  <a:schemeClr val="bg1"/>
                </a:solidFill>
              </a:rPr>
              <a:t>Regulation &amp; biosafety</a:t>
            </a:r>
            <a:endParaRPr lang="en-US" sz="1300" dirty="0"/>
          </a:p>
        </p:txBody>
      </p:sp>
      <p:sp>
        <p:nvSpPr>
          <p:cNvPr id="19" name="Annex topic"/>
          <p:cNvSpPr/>
          <p:nvPr/>
        </p:nvSpPr>
        <p:spPr>
          <a:xfrm>
            <a:off x="5532120" y="1828800"/>
            <a:ext cx="1508760" cy="2011680"/>
          </a:xfrm>
          <a:prstGeom prst="roundRect">
            <a:avLst>
              <a:gd name="adj" fmla="val 4848"/>
            </a:avLst>
          </a:prstGeom>
          <a:solidFill>
            <a:schemeClr val="accent3"/>
          </a:solidFill>
          <a:ln/>
        </p:spPr>
      </p:sp>
      <p:sp>
        <p:nvSpPr>
          <p:cNvPr id="20" name="Icon circle"/>
          <p:cNvSpPr/>
          <p:nvPr/>
        </p:nvSpPr>
        <p:spPr>
          <a:xfrm>
            <a:off x="5943600" y="2103120"/>
            <a:ext cx="685800" cy="685800"/>
          </a:xfrm>
          <a:prstGeom prst="ellipse">
            <a:avLst/>
          </a:prstGeom>
          <a:solidFill>
            <a:schemeClr val="accent2"/>
          </a:solidFill>
          <a:ln/>
        </p:spPr>
      </p:sp>
      <p:pic>
        <p:nvPicPr>
          <p:cNvPr id="21" name="Image 3" descr="icon">    </p:cNvPr>
          <p:cNvPicPr>
            <a:picLocks noChangeAspect="1"/>
          </p:cNvPicPr>
          <p:nvPr/>
        </p:nvPicPr>
        <p:blipFill>
          <a:blip r:embed="rId4"/>
          <a:stretch>
            <a:fillRect/>
          </a:stretch>
        </p:blipFill>
        <p:spPr>
          <a:xfrm>
            <a:off x="6115050" y="2274570"/>
            <a:ext cx="342900" cy="342900"/>
          </a:xfrm>
          <a:prstGeom prst="rect">
            <a:avLst/>
          </a:prstGeom>
        </p:spPr>
      </p:pic>
      <p:sp>
        <p:nvSpPr>
          <p:cNvPr id="22" name="Text 16"/>
          <p:cNvSpPr txBox="1"/>
          <p:nvPr/>
        </p:nvSpPr>
        <p:spPr>
          <a:xfrm>
            <a:off x="5623560" y="2971800"/>
            <a:ext cx="1325880" cy="731520"/>
          </a:xfrm>
          <a:prstGeom prst="rect">
            <a:avLst/>
          </a:prstGeom>
          <a:noFill/>
          <a:ln/>
        </p:spPr>
        <p:txBody>
          <a:bodyPr wrap="square" lIns="0" tIns="0" rIns="0" bIns="0" rtlCol="0" anchor="t"/>
          <a:lstStyle/>
          <a:p>
            <a:pPr algn="ctr" indent="0" marL="0">
              <a:buNone/>
            </a:pPr>
            <a:r>
              <a:rPr lang="en-US" sz="1300" b="1" dirty="0">
                <a:solidFill>
                  <a:schemeClr val="bg1"/>
                </a:solidFill>
              </a:rPr>
              <a:t>Financial assumptions</a:t>
            </a:r>
            <a:endParaRPr lang="en-US" sz="1300" dirty="0"/>
          </a:p>
        </p:txBody>
      </p:sp>
      <p:sp>
        <p:nvSpPr>
          <p:cNvPr id="23" name="Annex topic"/>
          <p:cNvSpPr/>
          <p:nvPr/>
        </p:nvSpPr>
        <p:spPr>
          <a:xfrm>
            <a:off x="7223760" y="1828800"/>
            <a:ext cx="1508760" cy="2011680"/>
          </a:xfrm>
          <a:prstGeom prst="roundRect">
            <a:avLst>
              <a:gd name="adj" fmla="val 4848"/>
            </a:avLst>
          </a:prstGeom>
          <a:solidFill>
            <a:schemeClr val="accent3"/>
          </a:solidFill>
          <a:ln/>
        </p:spPr>
      </p:sp>
      <p:sp>
        <p:nvSpPr>
          <p:cNvPr id="24" name="Icon circle"/>
          <p:cNvSpPr/>
          <p:nvPr/>
        </p:nvSpPr>
        <p:spPr>
          <a:xfrm>
            <a:off x="7635240" y="2103120"/>
            <a:ext cx="685800" cy="685800"/>
          </a:xfrm>
          <a:prstGeom prst="ellipse">
            <a:avLst/>
          </a:prstGeom>
          <a:solidFill>
            <a:schemeClr val="accent2"/>
          </a:solidFill>
          <a:ln/>
        </p:spPr>
      </p:sp>
      <p:pic>
        <p:nvPicPr>
          <p:cNvPr id="25" name="Image 4" descr="icon">    </p:cNvPr>
          <p:cNvPicPr>
            <a:picLocks noChangeAspect="1"/>
          </p:cNvPicPr>
          <p:nvPr/>
        </p:nvPicPr>
        <p:blipFill>
          <a:blip r:embed="rId5"/>
          <a:stretch>
            <a:fillRect/>
          </a:stretch>
        </p:blipFill>
        <p:spPr>
          <a:xfrm>
            <a:off x="7806690" y="2274570"/>
            <a:ext cx="342900" cy="342900"/>
          </a:xfrm>
          <a:prstGeom prst="rect">
            <a:avLst/>
          </a:prstGeom>
        </p:spPr>
      </p:pic>
      <p:sp>
        <p:nvSpPr>
          <p:cNvPr id="26" name="Text 19"/>
          <p:cNvSpPr txBox="1"/>
          <p:nvPr/>
        </p:nvSpPr>
        <p:spPr>
          <a:xfrm>
            <a:off x="7315200" y="2971800"/>
            <a:ext cx="1325880" cy="731520"/>
          </a:xfrm>
          <a:prstGeom prst="rect">
            <a:avLst/>
          </a:prstGeom>
          <a:noFill/>
          <a:ln/>
        </p:spPr>
        <p:txBody>
          <a:bodyPr wrap="square" lIns="0" tIns="0" rIns="0" bIns="0" rtlCol="0" anchor="t"/>
          <a:lstStyle/>
          <a:p>
            <a:pPr algn="ctr" indent="0" marL="0">
              <a:buNone/>
            </a:pPr>
            <a:r>
              <a:rPr lang="en-US" sz="1300" b="1" dirty="0">
                <a:solidFill>
                  <a:schemeClr val="bg1"/>
                </a:solidFill>
              </a:rPr>
              <a:t>FAQ</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Pitch Template">
  <a:themeElements>
    <a:clrScheme name="Pitch Template">
      <a:dk1>
        <a:srgbClr val="222222"/>
      </a:dk1>
      <a:lt1>
        <a:srgbClr val="FFFFFF"/>
      </a:lt1>
      <a:dk2>
        <a:srgbClr val="314F65"/>
      </a:dk2>
      <a:lt2>
        <a:srgbClr val="EBF3E2"/>
      </a:lt2>
      <a:accent1>
        <a:srgbClr val="314F65"/>
      </a:accent1>
      <a:accent2>
        <a:srgbClr val="9CC66F"/>
      </a:accent2>
      <a:accent3>
        <a:srgbClr val="5E7A8F"/>
      </a:accent3>
      <a:accent4>
        <a:srgbClr val="C9DDB5"/>
      </a:accent4>
      <a:accent5>
        <a:srgbClr val="6B7B88"/>
      </a:accent5>
      <a:accent6>
        <a:srgbClr val="E3E8EC"/>
      </a:accent6>
      <a:hlink>
        <a:srgbClr val="314F65"/>
      </a:hlink>
      <a:folHlink>
        <a:srgbClr val="5E7A8F"/>
      </a:folHlink>
    </a:clrScheme>
    <a:fontScheme name="Pitch Template">
      <a:majorFont>
        <a:latin typeface="Apto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mbr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3-minute pitch deck template</dc:title>
  <dc:subject>PptxGenJS Presentation</dc:subject>
  <dc:creator>PptxGenJS</dc:creator>
  <cp:lastModifiedBy>PptxGenJS</cp:lastModifiedBy>
  <cp:revision>1</cp:revision>
  <dcterms:created xsi:type="dcterms:W3CDTF">2026-10-19T15:58:07Z</dcterms:created>
  <dcterms:modified xsi:type="dcterms:W3CDTF">2026-10-19T15:58:07Z</dcterms:modified>
</cp:coreProperties>
</file>